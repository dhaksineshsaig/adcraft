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embeddedFontLst>
    <p:embeddedFont>
      <p:font typeface="Open Sans" panose="020B0606030504020204" pitchFamily="34" charset="0"/>
      <p:regular r:id="rId13"/>
    </p:embeddedFont>
    <p:embeddedFont>
      <p:font typeface="Open Sans Bold" panose="020B0806030504020204" charset="0"/>
      <p:regular r:id="rId14"/>
    </p:embeddedFont>
    <p:embeddedFont>
      <p:font typeface="Playfair Display Bold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9" d="100"/>
          <a:sy n="119" d="100"/>
        </p:scale>
        <p:origin x="41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D6F755B-6FC1-436E-A9C5-51A9EDF5078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C0E"/>
          </a:solidFill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635A0D8-B2E7-4C1E-A418-97161B45827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3F7"/>
          </a:solidFill>
        </p:spPr>
      </p:sp>
      <p:pic>
        <p:nvPicPr>
          <p:cNvPr id="7" name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hyperlink" Target="https://saiposterai.netlify.app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5.sv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4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2.svg"/><Relationship Id="rId7" Type="http://schemas.openxmlformats.org/officeDocument/2006/relationships/image" Target="../media/image26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svg"/><Relationship Id="rId5" Type="http://schemas.openxmlformats.org/officeDocument/2006/relationships/image" Target="../media/image24.svg"/><Relationship Id="rId4" Type="http://schemas.openxmlformats.org/officeDocument/2006/relationships/image" Target="../media/image2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6D014FB3-1E00-4F1A-9D10-2E5AFC4C6890}"/>
              </a:ext>
            </a:extLst>
          </p:cNvPr>
          <p:cNvSpPr>
            <a:spLocks noGrp="1"/>
          </p:cNvSpPr>
          <p:nvPr/>
        </p:nvSpPr>
        <p:spPr>
          <a:xfrm>
            <a:off x="496119" y="988963"/>
            <a:ext cx="4722763" cy="442987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sz="2750" b="1">
                <a:solidFill>
                  <a:srgbClr val="101014"/>
                </a:solidFill>
                <a:latin typeface="Playfair Display Bold"/>
                <a:ea typeface="Playfair Display Bold"/>
                <a:cs typeface="Playfair Display Bold"/>
              </a:rPr>
              <a:t>AI Poster Generator</a:t>
            </a: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3178AB37-4011-4219-927D-0753BEC3B0F2}"/>
              </a:ext>
            </a:extLst>
          </p:cNvPr>
          <p:cNvSpPr>
            <a:spLocks noGrp="1"/>
          </p:cNvSpPr>
          <p:nvPr/>
        </p:nvSpPr>
        <p:spPr>
          <a:xfrm>
            <a:off x="496119" y="1644551"/>
            <a:ext cx="4722763" cy="162676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r>
              <a:rPr sz="1100">
                <a:solidFill>
                  <a:srgbClr val="39393C"/>
                </a:solidFill>
                <a:latin typeface="Open Sans"/>
                <a:ea typeface="Open Sans"/>
                <a:cs typeface="Open Sans"/>
              </a:rPr>
              <a:t>An software platform that transforms e-commerce products into professional marketing posters — automatically.</a:t>
            </a:r>
          </a:p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r>
              <a:rPr sz="11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🚀</a:t>
            </a:r>
            <a:r>
              <a:rPr sz="1100">
                <a:solidFill>
                  <a:srgbClr val="39393C"/>
                </a:solidFill>
                <a:latin typeface="Open Sans"/>
                <a:ea typeface="Open Sans"/>
                <a:cs typeface="Open Sans"/>
              </a:rPr>
              <a:t> Marketing Content Generation </a:t>
            </a:r>
          </a:p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r>
              <a:rPr sz="11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🛍️</a:t>
            </a:r>
            <a:r>
              <a:rPr sz="1100">
                <a:solidFill>
                  <a:srgbClr val="39393C"/>
                </a:solidFill>
                <a:latin typeface="Open Sans"/>
                <a:ea typeface="Open Sans"/>
                <a:cs typeface="Open Sans"/>
              </a:rPr>
              <a:t> Store Integration 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sz="11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📤</a:t>
            </a:r>
            <a:r>
              <a:rPr sz="1100">
                <a:solidFill>
                  <a:srgbClr val="39393C"/>
                </a:solidFill>
                <a:latin typeface="Open Sans"/>
                <a:ea typeface="Open Sans"/>
                <a:cs typeface="Open Sans"/>
              </a:rPr>
              <a:t> One-Click Export</a:t>
            </a:r>
          </a:p>
        </p:txBody>
      </p:sp>
      <p:pic>
        <p:nvPicPr>
          <p:cNvPr id="10" name="Image 1">
            <a:hlinkClick r:id="rId4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119" y="3430786"/>
            <a:ext cx="4722763" cy="723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72761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BAC07F6-83BA-495B-B3E3-89C90D3D50EF}"/>
              </a:ext>
            </a:extLst>
          </p:cNvPr>
          <p:cNvSpPr>
            <a:spLocks noGrp="1"/>
          </p:cNvSpPr>
          <p:nvPr/>
        </p:nvSpPr>
        <p:spPr>
          <a:xfrm>
            <a:off x="496119" y="972145"/>
            <a:ext cx="1283494" cy="215354"/>
          </a:xfrm>
          <a:prstGeom prst="roundRect">
            <a:avLst>
              <a:gd name="adj" fmla="val 7900"/>
            </a:avLst>
          </a:prstGeom>
          <a:noFill/>
          <a:ln w="4763">
            <a:solidFill>
              <a:srgbClr val="101014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2D6929E-55DB-4A54-BC21-55F4FE3E9BDE}"/>
              </a:ext>
            </a:extLst>
          </p:cNvPr>
          <p:cNvSpPr>
            <a:spLocks noGrp="1"/>
          </p:cNvSpPr>
          <p:nvPr/>
        </p:nvSpPr>
        <p:spPr>
          <a:xfrm>
            <a:off x="581174" y="1014636"/>
            <a:ext cx="1570583" cy="130373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sz="850" dirty="0">
                <a:solidFill>
                  <a:srgbClr val="101014"/>
                </a:solidFill>
                <a:latin typeface="Open Sans"/>
                <a:ea typeface="Open Sans"/>
                <a:cs typeface="Open Sans"/>
              </a:rPr>
              <a:t>PRESENTATION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2EAA8FE-A8E0-4AF8-B9E0-291CD9F859BA}"/>
              </a:ext>
            </a:extLst>
          </p:cNvPr>
          <p:cNvSpPr>
            <a:spLocks noGrp="1"/>
          </p:cNvSpPr>
          <p:nvPr/>
        </p:nvSpPr>
        <p:spPr>
          <a:xfrm>
            <a:off x="496119" y="1244203"/>
            <a:ext cx="8151763" cy="442987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sz="2750" b="1">
                <a:solidFill>
                  <a:srgbClr val="101014"/>
                </a:solidFill>
                <a:latin typeface="Playfair Display Bold"/>
                <a:ea typeface="Playfair Display Bold"/>
                <a:cs typeface="Playfair Display Bold"/>
              </a:rPr>
              <a:t>AGENDA</a:t>
            </a: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3B37BD6-251C-49C5-98C2-C74A80F8192F}"/>
              </a:ext>
            </a:extLst>
          </p:cNvPr>
          <p:cNvSpPr>
            <a:spLocks noGrp="1"/>
          </p:cNvSpPr>
          <p:nvPr/>
        </p:nvSpPr>
        <p:spPr>
          <a:xfrm>
            <a:off x="647437" y="1948052"/>
            <a:ext cx="3987254" cy="221456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sz="1350" dirty="0">
                <a:solidFill>
                  <a:srgbClr val="39393C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IN" sz="1350" dirty="0">
                <a:solidFill>
                  <a:srgbClr val="39393C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PROBLEM STATEMENT </a:t>
            </a:r>
            <a:endParaRPr sz="1350" dirty="0">
              <a:solidFill>
                <a:srgbClr val="39393C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D89E67A6-CFAE-4822-B73D-9723452B79EA}"/>
              </a:ext>
            </a:extLst>
          </p:cNvPr>
          <p:cNvSpPr>
            <a:spLocks noGrp="1"/>
          </p:cNvSpPr>
          <p:nvPr/>
        </p:nvSpPr>
        <p:spPr>
          <a:xfrm>
            <a:off x="692465" y="2562903"/>
            <a:ext cx="3987329" cy="221456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IN" sz="1350" dirty="0">
                <a:solidFill>
                  <a:srgbClr val="39393C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SYSTEM </a:t>
            </a:r>
            <a:r>
              <a:rPr sz="1350" dirty="0">
                <a:solidFill>
                  <a:srgbClr val="39393C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</a:t>
            </a:r>
            <a:r>
              <a:rPr lang="en-IN" sz="1350" dirty="0">
                <a:solidFill>
                  <a:srgbClr val="39393C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RCHITECTURE</a:t>
            </a:r>
            <a:endParaRPr sz="1350" dirty="0">
              <a:solidFill>
                <a:srgbClr val="39393C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5B030584-0D1E-46EF-8388-83A6F737A699}"/>
              </a:ext>
            </a:extLst>
          </p:cNvPr>
          <p:cNvSpPr>
            <a:spLocks noGrp="1"/>
          </p:cNvSpPr>
          <p:nvPr/>
        </p:nvSpPr>
        <p:spPr>
          <a:xfrm>
            <a:off x="692465" y="3224484"/>
            <a:ext cx="3987254" cy="221456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sz="1350" dirty="0">
                <a:solidFill>
                  <a:srgbClr val="39393C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</a:t>
            </a:r>
            <a:r>
              <a:rPr lang="en-IN" sz="1350" dirty="0">
                <a:solidFill>
                  <a:srgbClr val="39393C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TORE</a:t>
            </a:r>
            <a:r>
              <a:rPr sz="1350" dirty="0">
                <a:solidFill>
                  <a:srgbClr val="39393C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I</a:t>
            </a:r>
            <a:r>
              <a:rPr lang="en-IN" sz="1350" dirty="0">
                <a:solidFill>
                  <a:srgbClr val="39393C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NTEGRATION</a:t>
            </a:r>
            <a:endParaRPr sz="1350" dirty="0">
              <a:solidFill>
                <a:srgbClr val="39393C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B341C8A5-B4E8-458C-9CC9-53EC06658FFD}"/>
              </a:ext>
            </a:extLst>
          </p:cNvPr>
          <p:cNvSpPr>
            <a:spLocks noGrp="1"/>
          </p:cNvSpPr>
          <p:nvPr/>
        </p:nvSpPr>
        <p:spPr>
          <a:xfrm>
            <a:off x="692615" y="3865837"/>
            <a:ext cx="3987329" cy="221456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sz="1350" dirty="0">
                <a:solidFill>
                  <a:srgbClr val="39393C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</a:t>
            </a:r>
            <a:r>
              <a:rPr lang="en-IN" sz="1350" dirty="0">
                <a:solidFill>
                  <a:srgbClr val="39393C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ORE</a:t>
            </a:r>
            <a:r>
              <a:rPr sz="1350" dirty="0">
                <a:solidFill>
                  <a:srgbClr val="39393C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F</a:t>
            </a:r>
            <a:r>
              <a:rPr lang="en-IN" sz="1350" dirty="0">
                <a:solidFill>
                  <a:srgbClr val="39393C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EATURES</a:t>
            </a:r>
            <a:endParaRPr sz="1350" dirty="0">
              <a:solidFill>
                <a:srgbClr val="39393C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37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5002" y="4844853"/>
            <a:ext cx="1518998" cy="251263"/>
          </a:xfrm>
          <a:prstGeom prst="rect">
            <a:avLst/>
          </a:prstGeom>
        </p:spPr>
      </p:pic>
      <p:sp>
        <p:nvSpPr>
          <p:cNvPr id="8" name="Text 3">
            <a:extLst>
              <a:ext uri="{FF2B5EF4-FFF2-40B4-BE49-F238E27FC236}">
                <a16:creationId xmlns:a16="http://schemas.microsoft.com/office/drawing/2014/main" id="{9B97C98A-80C1-8A99-84F9-743325562C01}"/>
              </a:ext>
            </a:extLst>
          </p:cNvPr>
          <p:cNvSpPr>
            <a:spLocks noGrp="1"/>
          </p:cNvSpPr>
          <p:nvPr/>
        </p:nvSpPr>
        <p:spPr>
          <a:xfrm>
            <a:off x="692540" y="2255252"/>
            <a:ext cx="3987254" cy="221456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IN" sz="1350" dirty="0">
                <a:solidFill>
                  <a:srgbClr val="39393C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SOLUTION</a:t>
            </a:r>
            <a:endParaRPr sz="1350" dirty="0">
              <a:solidFill>
                <a:srgbClr val="39393C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4" name="Text 3">
            <a:extLst>
              <a:ext uri="{FF2B5EF4-FFF2-40B4-BE49-F238E27FC236}">
                <a16:creationId xmlns:a16="http://schemas.microsoft.com/office/drawing/2014/main" id="{E2794A68-83A4-D943-CA93-492B11193ACE}"/>
              </a:ext>
            </a:extLst>
          </p:cNvPr>
          <p:cNvSpPr>
            <a:spLocks noGrp="1"/>
          </p:cNvSpPr>
          <p:nvPr/>
        </p:nvSpPr>
        <p:spPr>
          <a:xfrm>
            <a:off x="692465" y="2893953"/>
            <a:ext cx="3987254" cy="221456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IN" sz="1350" dirty="0">
                <a:solidFill>
                  <a:srgbClr val="39393C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TECHNOLOGY STACK</a:t>
            </a:r>
            <a:endParaRPr sz="1350" dirty="0">
              <a:solidFill>
                <a:srgbClr val="39393C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532A640B-59B5-F913-0F9D-B72EF57D5261}"/>
              </a:ext>
            </a:extLst>
          </p:cNvPr>
          <p:cNvSpPr>
            <a:spLocks noGrp="1"/>
          </p:cNvSpPr>
          <p:nvPr/>
        </p:nvSpPr>
        <p:spPr>
          <a:xfrm>
            <a:off x="692615" y="3548184"/>
            <a:ext cx="3987254" cy="221456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IN" sz="1350" dirty="0">
                <a:solidFill>
                  <a:srgbClr val="39393C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POSTER PIPELINE</a:t>
            </a:r>
            <a:endParaRPr sz="1350" dirty="0">
              <a:solidFill>
                <a:srgbClr val="39393C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24" name="Image 0">
            <a:extLst>
              <a:ext uri="{FF2B5EF4-FFF2-40B4-BE49-F238E27FC236}">
                <a16:creationId xmlns:a16="http://schemas.microsoft.com/office/drawing/2014/main" id="{67BD4D0D-7FD7-7143-1037-B7CD4E18C2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717" y="1988026"/>
            <a:ext cx="126206" cy="126206"/>
          </a:xfrm>
          <a:prstGeom prst="rect">
            <a:avLst/>
          </a:prstGeom>
        </p:spPr>
      </p:pic>
      <p:pic>
        <p:nvPicPr>
          <p:cNvPr id="33" name="Image 0">
            <a:extLst>
              <a:ext uri="{FF2B5EF4-FFF2-40B4-BE49-F238E27FC236}">
                <a16:creationId xmlns:a16="http://schemas.microsoft.com/office/drawing/2014/main" id="{6E4F6047-A25B-C340-7A1E-7B475F69AA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717" y="2290690"/>
            <a:ext cx="126206" cy="126206"/>
          </a:xfrm>
          <a:prstGeom prst="rect">
            <a:avLst/>
          </a:prstGeom>
        </p:spPr>
      </p:pic>
      <p:pic>
        <p:nvPicPr>
          <p:cNvPr id="36" name="Image 0">
            <a:extLst>
              <a:ext uri="{FF2B5EF4-FFF2-40B4-BE49-F238E27FC236}">
                <a16:creationId xmlns:a16="http://schemas.microsoft.com/office/drawing/2014/main" id="{430B31CA-9617-8773-089D-DBA25BEB0B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853" y="2631988"/>
            <a:ext cx="126206" cy="126206"/>
          </a:xfrm>
          <a:prstGeom prst="rect">
            <a:avLst/>
          </a:prstGeom>
        </p:spPr>
      </p:pic>
      <p:pic>
        <p:nvPicPr>
          <p:cNvPr id="39" name="Image 0">
            <a:extLst>
              <a:ext uri="{FF2B5EF4-FFF2-40B4-BE49-F238E27FC236}">
                <a16:creationId xmlns:a16="http://schemas.microsoft.com/office/drawing/2014/main" id="{CEE48B3D-41C7-4464-169A-0D8D72E234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1292" y="2928819"/>
            <a:ext cx="126206" cy="126206"/>
          </a:xfrm>
          <a:prstGeom prst="rect">
            <a:avLst/>
          </a:prstGeom>
        </p:spPr>
      </p:pic>
      <p:pic>
        <p:nvPicPr>
          <p:cNvPr id="41" name="Image 0">
            <a:extLst>
              <a:ext uri="{FF2B5EF4-FFF2-40B4-BE49-F238E27FC236}">
                <a16:creationId xmlns:a16="http://schemas.microsoft.com/office/drawing/2014/main" id="{56823272-50D0-4210-15D6-81E7A279CB9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1292" y="3267002"/>
            <a:ext cx="126206" cy="126206"/>
          </a:xfrm>
          <a:prstGeom prst="rect">
            <a:avLst/>
          </a:prstGeom>
        </p:spPr>
      </p:pic>
      <p:pic>
        <p:nvPicPr>
          <p:cNvPr id="43" name="Image 0">
            <a:extLst>
              <a:ext uri="{FF2B5EF4-FFF2-40B4-BE49-F238E27FC236}">
                <a16:creationId xmlns:a16="http://schemas.microsoft.com/office/drawing/2014/main" id="{91EC3629-4EE1-6E5F-1D26-653DF9AB9E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717" y="3576492"/>
            <a:ext cx="126206" cy="126206"/>
          </a:xfrm>
          <a:prstGeom prst="rect">
            <a:avLst/>
          </a:prstGeom>
        </p:spPr>
      </p:pic>
      <p:pic>
        <p:nvPicPr>
          <p:cNvPr id="45" name="Image 0">
            <a:extLst>
              <a:ext uri="{FF2B5EF4-FFF2-40B4-BE49-F238E27FC236}">
                <a16:creationId xmlns:a16="http://schemas.microsoft.com/office/drawing/2014/main" id="{2EC47E49-AE20-68E0-1D83-C98AB682419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1292" y="3913462"/>
            <a:ext cx="126206" cy="126206"/>
          </a:xfrm>
          <a:prstGeom prst="rect">
            <a:avLst/>
          </a:prstGeom>
        </p:spPr>
      </p:pic>
      <p:pic>
        <p:nvPicPr>
          <p:cNvPr id="49" name="Picture 48" descr="The image displays a user interface for a marketing tool that allows users to connect their online stores, generate professional marketing content, and export it in various formats.&#10;&#10;AI-generated content may be incorrect.">
            <a:extLst>
              <a:ext uri="{FF2B5EF4-FFF2-40B4-BE49-F238E27FC236}">
                <a16:creationId xmlns:a16="http://schemas.microsoft.com/office/drawing/2014/main" id="{2B00D4AD-5E42-377E-A00C-2607D7F4E1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9541" y="0"/>
            <a:ext cx="4384459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939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A55DE01-589B-44A3-8A1B-9F47AE94C509}"/>
              </a:ext>
            </a:extLst>
          </p:cNvPr>
          <p:cNvSpPr>
            <a:spLocks noGrp="1"/>
          </p:cNvSpPr>
          <p:nvPr/>
        </p:nvSpPr>
        <p:spPr>
          <a:xfrm>
            <a:off x="496119" y="706562"/>
            <a:ext cx="1357461" cy="215354"/>
          </a:xfrm>
          <a:prstGeom prst="roundRect">
            <a:avLst>
              <a:gd name="adj" fmla="val 7900"/>
            </a:avLst>
          </a:prstGeom>
          <a:noFill/>
          <a:ln w="4763">
            <a:solidFill>
              <a:srgbClr val="101014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4487474-4F68-47FA-B7B5-003BC46759F6}"/>
              </a:ext>
            </a:extLst>
          </p:cNvPr>
          <p:cNvSpPr>
            <a:spLocks noGrp="1"/>
          </p:cNvSpPr>
          <p:nvPr/>
        </p:nvSpPr>
        <p:spPr>
          <a:xfrm>
            <a:off x="581174" y="749052"/>
            <a:ext cx="1644551" cy="130373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sz="850">
                <a:solidFill>
                  <a:srgbClr val="101014"/>
                </a:solidFill>
                <a:latin typeface="Open Sans"/>
                <a:ea typeface="Open Sans"/>
                <a:cs typeface="Open Sans"/>
              </a:rPr>
              <a:t>PROBLEM STATEMENT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F80E86E-8869-4B3D-9C42-BD1BE16C5C57}"/>
              </a:ext>
            </a:extLst>
          </p:cNvPr>
          <p:cNvSpPr>
            <a:spLocks noGrp="1"/>
          </p:cNvSpPr>
          <p:nvPr/>
        </p:nvSpPr>
        <p:spPr>
          <a:xfrm>
            <a:off x="496119" y="978619"/>
            <a:ext cx="8151763" cy="442987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sz="2750" b="1">
                <a:solidFill>
                  <a:srgbClr val="101014"/>
                </a:solidFill>
                <a:latin typeface="Playfair Display Bold"/>
                <a:ea typeface="Playfair Display Bold"/>
                <a:cs typeface="Playfair Display Bold"/>
              </a:rPr>
              <a:t>The Challenge of Manual Poster Creation</a:t>
            </a:r>
          </a:p>
        </p:txBody>
      </p:sp>
      <p:pic>
        <p:nvPicPr>
          <p:cNvPr id="26" name="Image 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634207"/>
            <a:ext cx="4004965" cy="1091282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BE2A48A5-53C8-48BB-9473-89B576954972}"/>
              </a:ext>
            </a:extLst>
          </p:cNvPr>
          <p:cNvSpPr>
            <a:spLocks noGrp="1"/>
          </p:cNvSpPr>
          <p:nvPr/>
        </p:nvSpPr>
        <p:spPr>
          <a:xfrm>
            <a:off x="733127" y="1795016"/>
            <a:ext cx="3607147" cy="230981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sz="1350" b="1">
                <a:solidFill>
                  <a:srgbClr val="000000"/>
                </a:solidFill>
                <a:latin typeface="Twemoji Mozilla"/>
                <a:ea typeface="Twemoji Mozilla"/>
                <a:cs typeface="Twemoji Mozilla"/>
              </a:rPr>
              <a:t>⏱</a:t>
            </a:r>
            <a:r>
              <a:rPr sz="1350" b="1">
                <a:solidFill>
                  <a:srgbClr val="39393C"/>
                </a:solidFill>
                <a:latin typeface="Playfair Display Bold"/>
                <a:ea typeface="Playfair Display Bold"/>
                <a:cs typeface="Playfair Display Bold"/>
              </a:rPr>
              <a:t> Time-Consuming</a:t>
            </a: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6682D1C4-5687-4BA6-BF21-937C8830EDA6}"/>
              </a:ext>
            </a:extLst>
          </p:cNvPr>
          <p:cNvSpPr>
            <a:spLocks noGrp="1"/>
          </p:cNvSpPr>
          <p:nvPr/>
        </p:nvSpPr>
        <p:spPr>
          <a:xfrm>
            <a:off x="733127" y="2111053"/>
            <a:ext cx="3607147" cy="45362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sz="1100">
                <a:solidFill>
                  <a:srgbClr val="39393C"/>
                </a:solidFill>
                <a:latin typeface="Open Sans"/>
                <a:ea typeface="Open Sans"/>
                <a:cs typeface="Open Sans"/>
              </a:rPr>
              <a:t>Every new product requires creating posters from scratch.</a:t>
            </a:r>
          </a:p>
        </p:txBody>
      </p:sp>
      <p:pic>
        <p:nvPicPr>
          <p:cNvPr id="29" name="Image 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42842" y="1634207"/>
            <a:ext cx="4005039" cy="1091282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6EC38C12-4785-4B5B-84FE-809110E9EB99}"/>
              </a:ext>
            </a:extLst>
          </p:cNvPr>
          <p:cNvSpPr>
            <a:spLocks noGrp="1"/>
          </p:cNvSpPr>
          <p:nvPr/>
        </p:nvSpPr>
        <p:spPr>
          <a:xfrm>
            <a:off x="4879851" y="1795016"/>
            <a:ext cx="3607222" cy="230981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sz="1350" b="1">
                <a:solidFill>
                  <a:srgbClr val="000000"/>
                </a:solidFill>
                <a:latin typeface="Twemoji Mozilla"/>
                <a:ea typeface="Twemoji Mozilla"/>
                <a:cs typeface="Twemoji Mozilla"/>
              </a:rPr>
              <a:t>🎨</a:t>
            </a:r>
            <a:r>
              <a:rPr sz="1350" b="1">
                <a:solidFill>
                  <a:srgbClr val="39393C"/>
                </a:solidFill>
                <a:latin typeface="Playfair Display Bold"/>
                <a:ea typeface="Playfair Display Bold"/>
                <a:cs typeface="Playfair Display Bold"/>
              </a:rPr>
              <a:t> No Design Resources</a:t>
            </a: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FA2B8582-124E-4609-B712-A3EA819944AA}"/>
              </a:ext>
            </a:extLst>
          </p:cNvPr>
          <p:cNvSpPr>
            <a:spLocks noGrp="1"/>
          </p:cNvSpPr>
          <p:nvPr/>
        </p:nvSpPr>
        <p:spPr>
          <a:xfrm>
            <a:off x="4879851" y="2111053"/>
            <a:ext cx="3607222" cy="226814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sz="1100">
                <a:solidFill>
                  <a:srgbClr val="39393C"/>
                </a:solidFill>
                <a:latin typeface="Open Sans"/>
                <a:ea typeface="Open Sans"/>
                <a:cs typeface="Open Sans"/>
              </a:rPr>
              <a:t>Hiring designers for every campaign is expensive.</a:t>
            </a:r>
          </a:p>
        </p:txBody>
      </p:sp>
      <p:pic>
        <p:nvPicPr>
          <p:cNvPr id="32" name="Imag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2867248"/>
            <a:ext cx="4004965" cy="1091282"/>
          </a:xfrm>
          <a:prstGeom prst="rect">
            <a:avLst/>
          </a:prstGeom>
        </p:spPr>
      </p:pic>
      <p:sp>
        <p:nvSpPr>
          <p:cNvPr id="12" name="Text 7">
            <a:extLst>
              <a:ext uri="{FF2B5EF4-FFF2-40B4-BE49-F238E27FC236}">
                <a16:creationId xmlns:a16="http://schemas.microsoft.com/office/drawing/2014/main" id="{4FED3206-1429-434C-B27A-83813EA43E20}"/>
              </a:ext>
            </a:extLst>
          </p:cNvPr>
          <p:cNvSpPr>
            <a:spLocks noGrp="1"/>
          </p:cNvSpPr>
          <p:nvPr/>
        </p:nvSpPr>
        <p:spPr>
          <a:xfrm>
            <a:off x="733127" y="3028057"/>
            <a:ext cx="3607147" cy="230981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sz="1350" b="1">
                <a:solidFill>
                  <a:srgbClr val="000000"/>
                </a:solidFill>
                <a:latin typeface="Twemoji Mozilla"/>
                <a:ea typeface="Twemoji Mozilla"/>
                <a:cs typeface="Twemoji Mozilla"/>
              </a:rPr>
              <a:t>🔁</a:t>
            </a:r>
            <a:r>
              <a:rPr sz="1350" b="1">
                <a:solidFill>
                  <a:srgbClr val="39393C"/>
                </a:solidFill>
                <a:latin typeface="Playfair Display Bold"/>
                <a:ea typeface="Playfair Display Bold"/>
                <a:cs typeface="Playfair Display Bold"/>
              </a:rPr>
              <a:t> Repetitive Editing</a:t>
            </a:r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2A51D5A1-6671-441E-8581-E6354F9004FD}"/>
              </a:ext>
            </a:extLst>
          </p:cNvPr>
          <p:cNvSpPr>
            <a:spLocks noGrp="1"/>
          </p:cNvSpPr>
          <p:nvPr/>
        </p:nvSpPr>
        <p:spPr>
          <a:xfrm>
            <a:off x="733127" y="3344094"/>
            <a:ext cx="3607147" cy="45362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sz="1100">
                <a:solidFill>
                  <a:srgbClr val="39393C"/>
                </a:solidFill>
                <a:latin typeface="Open Sans"/>
                <a:ea typeface="Open Sans"/>
                <a:cs typeface="Open Sans"/>
              </a:rPr>
              <a:t>Templates still require manual editing for every product.</a:t>
            </a:r>
          </a:p>
        </p:txBody>
      </p:sp>
      <p:pic>
        <p:nvPicPr>
          <p:cNvPr id="35" name="Image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42842" y="2867248"/>
            <a:ext cx="4005039" cy="1091282"/>
          </a:xfrm>
          <a:prstGeom prst="rect">
            <a:avLst/>
          </a:prstGeom>
        </p:spPr>
      </p:pic>
      <p:sp>
        <p:nvSpPr>
          <p:cNvPr id="15" name="Text 9">
            <a:extLst>
              <a:ext uri="{FF2B5EF4-FFF2-40B4-BE49-F238E27FC236}">
                <a16:creationId xmlns:a16="http://schemas.microsoft.com/office/drawing/2014/main" id="{1F57BB26-087B-432F-8177-F2FEE66D5AD8}"/>
              </a:ext>
            </a:extLst>
          </p:cNvPr>
          <p:cNvSpPr>
            <a:spLocks noGrp="1"/>
          </p:cNvSpPr>
          <p:nvPr/>
        </p:nvSpPr>
        <p:spPr>
          <a:xfrm>
            <a:off x="4879851" y="3028057"/>
            <a:ext cx="3607222" cy="230981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sz="1350" b="1">
                <a:solidFill>
                  <a:srgbClr val="000000"/>
                </a:solidFill>
                <a:latin typeface="Twemoji Mozilla"/>
                <a:ea typeface="Twemoji Mozilla"/>
                <a:cs typeface="Twemoji Mozilla"/>
              </a:rPr>
              <a:t>🚀</a:t>
            </a:r>
            <a:r>
              <a:rPr sz="1350" b="1">
                <a:solidFill>
                  <a:srgbClr val="39393C"/>
                </a:solidFill>
                <a:latin typeface="Playfair Display Bold"/>
                <a:ea typeface="Playfair Display Bold"/>
                <a:cs typeface="Playfair Display Bold"/>
              </a:rPr>
              <a:t> Slow Campaigns</a:t>
            </a:r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592A516A-8C22-40A4-98FB-B9E1602FB854}"/>
              </a:ext>
            </a:extLst>
          </p:cNvPr>
          <p:cNvSpPr>
            <a:spLocks noGrp="1"/>
          </p:cNvSpPr>
          <p:nvPr/>
        </p:nvSpPr>
        <p:spPr>
          <a:xfrm>
            <a:off x="4879851" y="3344094"/>
            <a:ext cx="3607222" cy="45362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sz="1100">
                <a:solidFill>
                  <a:srgbClr val="39393C"/>
                </a:solidFill>
                <a:latin typeface="Open Sans"/>
                <a:ea typeface="Open Sans"/>
                <a:cs typeface="Open Sans"/>
              </a:rPr>
              <a:t>Large catalogs delay marketing campaigns and product launches.</a:t>
            </a: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F3513370-8419-43F2-806C-75E685D80166}"/>
              </a:ext>
            </a:extLst>
          </p:cNvPr>
          <p:cNvSpPr>
            <a:spLocks noGrp="1"/>
          </p:cNvSpPr>
          <p:nvPr/>
        </p:nvSpPr>
        <p:spPr>
          <a:xfrm>
            <a:off x="496119" y="4171131"/>
            <a:ext cx="8151763" cy="265807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sz="1650" b="1">
                <a:latin typeface="Playfair Display Bold"/>
                <a:ea typeface="Playfair Display Bold"/>
                <a:cs typeface="Playfair Display Bold"/>
              </a:rPr>
              <a:t>Manual poster creation doesn't scale with growing product catalogs.</a:t>
            </a:r>
          </a:p>
        </p:txBody>
      </p:sp>
      <p:pic>
        <p:nvPicPr>
          <p:cNvPr id="39" name="Picture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2995" y="4514762"/>
            <a:ext cx="3801005" cy="628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0886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EBEF640-A819-4A37-AE64-98F2C877C485}"/>
              </a:ext>
            </a:extLst>
          </p:cNvPr>
          <p:cNvSpPr>
            <a:spLocks noGrp="1"/>
          </p:cNvSpPr>
          <p:nvPr/>
        </p:nvSpPr>
        <p:spPr>
          <a:xfrm>
            <a:off x="496119" y="393874"/>
            <a:ext cx="524619" cy="154707"/>
          </a:xfrm>
          <a:prstGeom prst="roundRect">
            <a:avLst>
              <a:gd name="adj" fmla="val 7904"/>
            </a:avLst>
          </a:prstGeom>
          <a:noFill/>
          <a:ln w="4763">
            <a:solidFill>
              <a:srgbClr val="101014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3EBCAB3-E934-4CAC-80D1-C5817AABD741}"/>
              </a:ext>
            </a:extLst>
          </p:cNvPr>
          <p:cNvSpPr>
            <a:spLocks noGrp="1"/>
          </p:cNvSpPr>
          <p:nvPr/>
        </p:nvSpPr>
        <p:spPr>
          <a:xfrm>
            <a:off x="557213" y="424383"/>
            <a:ext cx="859631" cy="93687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sz="600">
                <a:solidFill>
                  <a:srgbClr val="101014"/>
                </a:solidFill>
                <a:latin typeface="Open Sans"/>
                <a:ea typeface="Open Sans"/>
                <a:cs typeface="Open Sans"/>
              </a:rPr>
              <a:t>SOLUTION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3327C8D-4066-43D8-8480-28AE2F752760}"/>
              </a:ext>
            </a:extLst>
          </p:cNvPr>
          <p:cNvSpPr>
            <a:spLocks noGrp="1"/>
          </p:cNvSpPr>
          <p:nvPr/>
        </p:nvSpPr>
        <p:spPr>
          <a:xfrm>
            <a:off x="496119" y="577825"/>
            <a:ext cx="8151763" cy="318343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sz="2000" b="1">
                <a:solidFill>
                  <a:srgbClr val="101014"/>
                </a:solidFill>
                <a:latin typeface="Playfair Display Bold"/>
                <a:ea typeface="Playfair Display Bold"/>
                <a:cs typeface="Playfair Display Bold"/>
              </a:rPr>
              <a:t>From Store to Poster in Minutes</a:t>
            </a:r>
          </a:p>
        </p:txBody>
      </p:sp>
      <p:pic>
        <p:nvPicPr>
          <p:cNvPr id="2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006004"/>
            <a:ext cx="8151763" cy="3521125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4CC851FF-191E-41EA-83E6-8A247433285D}"/>
              </a:ext>
            </a:extLst>
          </p:cNvPr>
          <p:cNvSpPr>
            <a:spLocks noGrp="1"/>
          </p:cNvSpPr>
          <p:nvPr/>
        </p:nvSpPr>
        <p:spPr>
          <a:xfrm>
            <a:off x="2441329" y="3470427"/>
            <a:ext cx="1210397" cy="220451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sz="1350" b="1">
                <a:solidFill>
                  <a:srgbClr val="39393C"/>
                </a:solidFill>
                <a:latin typeface="Playfair Display Bold"/>
                <a:ea typeface="Playfair Display Bold"/>
                <a:cs typeface="Playfair Display Bold"/>
              </a:rPr>
              <a:t>Sync Products</a:t>
            </a: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CE58FC24-1B52-4D62-A3AF-462C14A9BFAE}"/>
              </a:ext>
            </a:extLst>
          </p:cNvPr>
          <p:cNvSpPr>
            <a:spLocks noGrp="1"/>
          </p:cNvSpPr>
          <p:nvPr/>
        </p:nvSpPr>
        <p:spPr>
          <a:xfrm>
            <a:off x="2441329" y="3753584"/>
            <a:ext cx="1210397" cy="45449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sz="1100">
                <a:solidFill>
                  <a:srgbClr val="39393C"/>
                </a:solidFill>
                <a:latin typeface="Open Sans"/>
                <a:ea typeface="Open Sans"/>
                <a:cs typeface="Open Sans"/>
              </a:rPr>
              <a:t>Import product data on demand</a:t>
            </a: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8895AC67-7049-4D5D-AD54-EFE8181BF656}"/>
              </a:ext>
            </a:extLst>
          </p:cNvPr>
          <p:cNvSpPr>
            <a:spLocks noGrp="1"/>
          </p:cNvSpPr>
          <p:nvPr/>
        </p:nvSpPr>
        <p:spPr>
          <a:xfrm>
            <a:off x="5549316" y="3621926"/>
            <a:ext cx="1210397" cy="220451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sz="1350" b="1">
                <a:solidFill>
                  <a:srgbClr val="101014"/>
                </a:solidFill>
                <a:latin typeface="Playfair Display Bold"/>
                <a:ea typeface="Playfair Display Bold"/>
                <a:cs typeface="Playfair Display Bold"/>
              </a:rPr>
              <a:t>Create Poster</a:t>
            </a: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D0511C1D-2992-40FB-B10A-515ECF02C288}"/>
              </a:ext>
            </a:extLst>
          </p:cNvPr>
          <p:cNvSpPr>
            <a:spLocks noGrp="1"/>
          </p:cNvSpPr>
          <p:nvPr/>
        </p:nvSpPr>
        <p:spPr>
          <a:xfrm>
            <a:off x="5549316" y="3905083"/>
            <a:ext cx="1210397" cy="302997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sz="1100">
                <a:solidFill>
                  <a:srgbClr val="39393C"/>
                </a:solidFill>
                <a:latin typeface="Open Sans"/>
                <a:ea typeface="Open Sans"/>
                <a:cs typeface="Open Sans"/>
              </a:rPr>
              <a:t>Auto-layout images and text</a:t>
            </a: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11A8D544-5627-4083-B32B-089A9A5038C0}"/>
              </a:ext>
            </a:extLst>
          </p:cNvPr>
          <p:cNvSpPr>
            <a:spLocks noGrp="1"/>
          </p:cNvSpPr>
          <p:nvPr/>
        </p:nvSpPr>
        <p:spPr>
          <a:xfrm>
            <a:off x="891193" y="1323728"/>
            <a:ext cx="1210397" cy="220451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sz="1350" b="1">
                <a:solidFill>
                  <a:srgbClr val="39393C"/>
                </a:solidFill>
                <a:latin typeface="Playfair Display Bold"/>
                <a:ea typeface="Playfair Display Bold"/>
                <a:cs typeface="Playfair Display Bold"/>
              </a:rPr>
              <a:t>Connect Store</a:t>
            </a: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33E86E6A-D036-49FD-8A39-E34BFBE6BC99}"/>
              </a:ext>
            </a:extLst>
          </p:cNvPr>
          <p:cNvSpPr>
            <a:spLocks noGrp="1"/>
          </p:cNvSpPr>
          <p:nvPr/>
        </p:nvSpPr>
        <p:spPr>
          <a:xfrm>
            <a:off x="891193" y="1606884"/>
            <a:ext cx="1210397" cy="45449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sz="1100">
                <a:solidFill>
                  <a:srgbClr val="39393C"/>
                </a:solidFill>
                <a:latin typeface="Open Sans"/>
                <a:ea typeface="Open Sans"/>
                <a:cs typeface="Open Sans"/>
              </a:rPr>
              <a:t>Authorize your e-commerce account</a:t>
            </a: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461DFC54-489C-4159-B742-2B7C6D9E7DC8}"/>
              </a:ext>
            </a:extLst>
          </p:cNvPr>
          <p:cNvSpPr>
            <a:spLocks noGrp="1"/>
          </p:cNvSpPr>
          <p:nvPr/>
        </p:nvSpPr>
        <p:spPr>
          <a:xfrm>
            <a:off x="7053279" y="1323728"/>
            <a:ext cx="1210397" cy="220451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sz="1350" b="1">
                <a:solidFill>
                  <a:srgbClr val="39393C"/>
                </a:solidFill>
                <a:latin typeface="Playfair Display Bold"/>
                <a:ea typeface="Playfair Display Bold"/>
                <a:cs typeface="Playfair Display Bold"/>
              </a:rPr>
              <a:t>Export</a:t>
            </a: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F2DD9805-346A-4002-9F41-E3269444B50F}"/>
              </a:ext>
            </a:extLst>
          </p:cNvPr>
          <p:cNvSpPr>
            <a:spLocks noGrp="1"/>
          </p:cNvSpPr>
          <p:nvPr/>
        </p:nvSpPr>
        <p:spPr>
          <a:xfrm>
            <a:off x="7053279" y="1606884"/>
            <a:ext cx="1210397" cy="302997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sz="1100">
                <a:solidFill>
                  <a:srgbClr val="39393C"/>
                </a:solidFill>
                <a:latin typeface="Open Sans"/>
                <a:ea typeface="Open Sans"/>
                <a:cs typeface="Open Sans"/>
              </a:rPr>
              <a:t>Download generated posters</a:t>
            </a:r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62C95B5F-D61F-479B-ABA6-A9BDF11D8936}"/>
              </a:ext>
            </a:extLst>
          </p:cNvPr>
          <p:cNvSpPr>
            <a:spLocks noGrp="1"/>
          </p:cNvSpPr>
          <p:nvPr/>
        </p:nvSpPr>
        <p:spPr>
          <a:xfrm>
            <a:off x="4014612" y="1323728"/>
            <a:ext cx="1210397" cy="44090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sz="1350" b="1">
                <a:solidFill>
                  <a:srgbClr val="101014"/>
                </a:solidFill>
                <a:latin typeface="Playfair Display Bold"/>
                <a:ea typeface="Playfair Display Bold"/>
                <a:cs typeface="Playfair Display Bold"/>
              </a:rPr>
              <a:t>Generate </a:t>
            </a:r>
          </a:p>
          <a:p>
            <a:pPr marL="0" indent="0" algn="ctr">
              <a:lnSpc>
                <a:spcPct val="104000"/>
              </a:lnSpc>
              <a:buNone/>
            </a:pPr>
            <a:r>
              <a:rPr sz="1350" b="1">
                <a:solidFill>
                  <a:srgbClr val="101014"/>
                </a:solidFill>
                <a:latin typeface="Playfair Display Bold"/>
                <a:ea typeface="Playfair Display Bold"/>
                <a:cs typeface="Playfair Display Bold"/>
              </a:rPr>
              <a:t>Marketing Content</a:t>
            </a:r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DB94BCF0-0C54-442F-A30B-811755B57341}"/>
              </a:ext>
            </a:extLst>
          </p:cNvPr>
          <p:cNvSpPr>
            <a:spLocks noGrp="1"/>
          </p:cNvSpPr>
          <p:nvPr/>
        </p:nvSpPr>
        <p:spPr>
          <a:xfrm>
            <a:off x="4014612" y="2021118"/>
            <a:ext cx="1210397" cy="302997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sz="1100">
                <a:solidFill>
                  <a:srgbClr val="39393C"/>
                </a:solidFill>
                <a:latin typeface="Open Sans"/>
                <a:ea typeface="Open Sans"/>
                <a:cs typeface="Open Sans"/>
              </a:rPr>
              <a:t>Create titles and descriptions</a:t>
            </a:r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B0602C5E-DD42-4263-831F-0AEB59CBD1F1}"/>
              </a:ext>
            </a:extLst>
          </p:cNvPr>
          <p:cNvSpPr>
            <a:spLocks noGrp="1"/>
          </p:cNvSpPr>
          <p:nvPr/>
        </p:nvSpPr>
        <p:spPr>
          <a:xfrm>
            <a:off x="267519" y="4609505"/>
            <a:ext cx="8608963" cy="140047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sz="800">
                <a:solidFill>
                  <a:srgbClr val="39393C"/>
                </a:solidFill>
                <a:latin typeface="Open Sans"/>
                <a:ea typeface="Open Sans"/>
                <a:cs typeface="Open Sans"/>
              </a:rPr>
              <a:t>A user-driven workflow — synchronize products, generate marketing content, create posters, and export downloads.</a:t>
            </a:r>
          </a:p>
        </p:txBody>
      </p:sp>
      <p:pic>
        <p:nvPicPr>
          <p:cNvPr id="34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5002" y="4844853"/>
            <a:ext cx="1518998" cy="251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137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224BAF6-E522-465F-9A80-6C7599FB94A8}"/>
              </a:ext>
            </a:extLst>
          </p:cNvPr>
          <p:cNvSpPr>
            <a:spLocks noGrp="1"/>
          </p:cNvSpPr>
          <p:nvPr/>
        </p:nvSpPr>
        <p:spPr>
          <a:xfrm>
            <a:off x="496119" y="398711"/>
            <a:ext cx="1218307" cy="185142"/>
          </a:xfrm>
          <a:prstGeom prst="roundRect">
            <a:avLst>
              <a:gd name="adj" fmla="val 7897"/>
            </a:avLst>
          </a:prstGeom>
          <a:noFill/>
          <a:ln w="4763">
            <a:solidFill>
              <a:srgbClr val="101014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339F716-3DDB-4C64-9FA4-E54FA07BB93E}"/>
              </a:ext>
            </a:extLst>
          </p:cNvPr>
          <p:cNvSpPr>
            <a:spLocks noGrp="1"/>
          </p:cNvSpPr>
          <p:nvPr/>
        </p:nvSpPr>
        <p:spPr>
          <a:xfrm>
            <a:off x="569193" y="435248"/>
            <a:ext cx="1529358" cy="112068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sz="750">
                <a:solidFill>
                  <a:srgbClr val="101014"/>
                </a:solidFill>
                <a:latin typeface="Open Sans"/>
                <a:ea typeface="Open Sans"/>
                <a:cs typeface="Open Sans"/>
              </a:rPr>
              <a:t>SYSTEM ARCHITECTURE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2A5F764-FC9B-4B59-8509-212F5E4ED859}"/>
              </a:ext>
            </a:extLst>
          </p:cNvPr>
          <p:cNvSpPr>
            <a:spLocks noGrp="1"/>
          </p:cNvSpPr>
          <p:nvPr/>
        </p:nvSpPr>
        <p:spPr>
          <a:xfrm>
            <a:off x="496119" y="625673"/>
            <a:ext cx="8151763" cy="380702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sz="2350" b="1">
                <a:solidFill>
                  <a:srgbClr val="101014"/>
                </a:solidFill>
                <a:latin typeface="Playfair Display Bold"/>
                <a:ea typeface="Playfair Display Bold"/>
                <a:cs typeface="Playfair Display Bold"/>
              </a:rPr>
              <a:t>Architecture Overview</a:t>
            </a:r>
          </a:p>
        </p:txBody>
      </p:sp>
      <p:pic>
        <p:nvPicPr>
          <p:cNvPr id="1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1960" y="1006375"/>
            <a:ext cx="6540079" cy="3781602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622AF4C9-5CBE-40A6-AD1F-2E23C80EC297}"/>
              </a:ext>
            </a:extLst>
          </p:cNvPr>
          <p:cNvSpPr>
            <a:spLocks noGrp="1"/>
          </p:cNvSpPr>
          <p:nvPr/>
        </p:nvSpPr>
        <p:spPr>
          <a:xfrm>
            <a:off x="496119" y="4563517"/>
            <a:ext cx="8608963" cy="181198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24000"/>
              </a:lnSpc>
              <a:buNone/>
            </a:pPr>
            <a:endParaRPr/>
          </a:p>
        </p:txBody>
      </p:sp>
      <p:pic>
        <p:nvPicPr>
          <p:cNvPr id="14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5002" y="4844853"/>
            <a:ext cx="1518998" cy="251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0061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BAC07F6-83BA-495B-B3E3-89C90D3D50EF}"/>
              </a:ext>
            </a:extLst>
          </p:cNvPr>
          <p:cNvSpPr>
            <a:spLocks noGrp="1"/>
          </p:cNvSpPr>
          <p:nvPr/>
        </p:nvSpPr>
        <p:spPr>
          <a:xfrm>
            <a:off x="496119" y="972145"/>
            <a:ext cx="1283494" cy="215354"/>
          </a:xfrm>
          <a:prstGeom prst="roundRect">
            <a:avLst>
              <a:gd name="adj" fmla="val 7900"/>
            </a:avLst>
          </a:prstGeom>
          <a:noFill/>
          <a:ln w="4763">
            <a:solidFill>
              <a:srgbClr val="101014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2D6929E-55DB-4A54-BC21-55F4FE3E9BDE}"/>
              </a:ext>
            </a:extLst>
          </p:cNvPr>
          <p:cNvSpPr>
            <a:spLocks noGrp="1"/>
          </p:cNvSpPr>
          <p:nvPr/>
        </p:nvSpPr>
        <p:spPr>
          <a:xfrm>
            <a:off x="581174" y="1014636"/>
            <a:ext cx="1570583" cy="130373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sz="850">
                <a:solidFill>
                  <a:srgbClr val="101014"/>
                </a:solidFill>
                <a:latin typeface="Open Sans"/>
                <a:ea typeface="Open Sans"/>
                <a:cs typeface="Open Sans"/>
              </a:rPr>
              <a:t>TECHNOLOGY STACK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2EAA8FE-A8E0-4AF8-B9E0-291CD9F859BA}"/>
              </a:ext>
            </a:extLst>
          </p:cNvPr>
          <p:cNvSpPr>
            <a:spLocks noGrp="1"/>
          </p:cNvSpPr>
          <p:nvPr/>
        </p:nvSpPr>
        <p:spPr>
          <a:xfrm>
            <a:off x="496119" y="1244203"/>
            <a:ext cx="8151763" cy="442987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sz="2750" b="1">
                <a:solidFill>
                  <a:srgbClr val="101014"/>
                </a:solidFill>
                <a:latin typeface="Playfair Display Bold"/>
                <a:ea typeface="Playfair Display Bold"/>
                <a:cs typeface="Playfair Display Bold"/>
              </a:rPr>
              <a:t>Modern, Production-Ready Stack</a:t>
            </a:r>
          </a:p>
        </p:txBody>
      </p:sp>
      <p:pic>
        <p:nvPicPr>
          <p:cNvPr id="25" name="Image 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899791"/>
            <a:ext cx="283518" cy="283518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E3B37BD6-251C-49C5-98C2-C74A80F8192F}"/>
              </a:ext>
            </a:extLst>
          </p:cNvPr>
          <p:cNvSpPr>
            <a:spLocks noGrp="1"/>
          </p:cNvSpPr>
          <p:nvPr/>
        </p:nvSpPr>
        <p:spPr>
          <a:xfrm>
            <a:off x="496119" y="2360488"/>
            <a:ext cx="3987254" cy="221456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sz="1350" b="1">
                <a:solidFill>
                  <a:srgbClr val="39393C"/>
                </a:solidFill>
                <a:latin typeface="Playfair Display Bold"/>
                <a:ea typeface="Playfair Display Bold"/>
                <a:cs typeface="Playfair Display Bold"/>
              </a:rPr>
              <a:t>Frontend</a:t>
            </a: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67FD2C83-B819-4E9E-95B0-5D6AF0BF8028}"/>
              </a:ext>
            </a:extLst>
          </p:cNvPr>
          <p:cNvSpPr>
            <a:spLocks noGrp="1"/>
          </p:cNvSpPr>
          <p:nvPr/>
        </p:nvSpPr>
        <p:spPr>
          <a:xfrm>
            <a:off x="496119" y="2667000"/>
            <a:ext cx="3987254" cy="226814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sz="1100">
                <a:solidFill>
                  <a:srgbClr val="39393C"/>
                </a:solidFill>
                <a:latin typeface="Open Sans"/>
                <a:ea typeface="Open Sans"/>
                <a:cs typeface="Open Sans"/>
              </a:rPr>
              <a:t>React · TypeScript · Vite · Tailwind CSS · React Query</a:t>
            </a:r>
          </a:p>
        </p:txBody>
      </p:sp>
      <p:pic>
        <p:nvPicPr>
          <p:cNvPr id="28" name="Image 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0553" y="1899791"/>
            <a:ext cx="283518" cy="283518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D89E67A6-CFAE-4822-B73D-9723452B79EA}"/>
              </a:ext>
            </a:extLst>
          </p:cNvPr>
          <p:cNvSpPr>
            <a:spLocks noGrp="1"/>
          </p:cNvSpPr>
          <p:nvPr/>
        </p:nvSpPr>
        <p:spPr>
          <a:xfrm>
            <a:off x="4660553" y="2360488"/>
            <a:ext cx="3987329" cy="221456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sz="1350" b="1">
                <a:solidFill>
                  <a:srgbClr val="39393C"/>
                </a:solidFill>
                <a:latin typeface="Playfair Display Bold"/>
                <a:ea typeface="Playfair Display Bold"/>
                <a:cs typeface="Playfair Display Bold"/>
              </a:rPr>
              <a:t>Backend</a:t>
            </a: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4076B3DC-CCA4-4146-9D02-CBD108B4D1AA}"/>
              </a:ext>
            </a:extLst>
          </p:cNvPr>
          <p:cNvSpPr>
            <a:spLocks noGrp="1"/>
          </p:cNvSpPr>
          <p:nvPr/>
        </p:nvSpPr>
        <p:spPr>
          <a:xfrm>
            <a:off x="4660553" y="2667000"/>
            <a:ext cx="3987329" cy="226814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sz="1100">
                <a:solidFill>
                  <a:srgbClr val="39393C"/>
                </a:solidFill>
                <a:latin typeface="Open Sans"/>
                <a:ea typeface="Open Sans"/>
                <a:cs typeface="Open Sans"/>
              </a:rPr>
              <a:t>Node.js · Express · TypeScript · REST API</a:t>
            </a:r>
          </a:p>
        </p:txBody>
      </p:sp>
      <p:pic>
        <p:nvPicPr>
          <p:cNvPr id="31" name="Imag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3177332"/>
            <a:ext cx="283518" cy="283518"/>
          </a:xfrm>
          <a:prstGeom prst="rect">
            <a:avLst/>
          </a:prstGeom>
        </p:spPr>
      </p:pic>
      <p:sp>
        <p:nvSpPr>
          <p:cNvPr id="12" name="Text 7">
            <a:extLst>
              <a:ext uri="{FF2B5EF4-FFF2-40B4-BE49-F238E27FC236}">
                <a16:creationId xmlns:a16="http://schemas.microsoft.com/office/drawing/2014/main" id="{5B030584-0D1E-46EF-8388-83A6F737A699}"/>
              </a:ext>
            </a:extLst>
          </p:cNvPr>
          <p:cNvSpPr>
            <a:spLocks noGrp="1"/>
          </p:cNvSpPr>
          <p:nvPr/>
        </p:nvSpPr>
        <p:spPr>
          <a:xfrm>
            <a:off x="496119" y="3638029"/>
            <a:ext cx="3987254" cy="221456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sz="1350" b="1">
                <a:solidFill>
                  <a:srgbClr val="39393C"/>
                </a:solidFill>
                <a:latin typeface="Playfair Display Bold"/>
                <a:ea typeface="Playfair Display Bold"/>
                <a:cs typeface="Playfair Display Bold"/>
              </a:rPr>
              <a:t>Database</a:t>
            </a:r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BDF8D37C-CB95-40A5-8804-89B222E6E280}"/>
              </a:ext>
            </a:extLst>
          </p:cNvPr>
          <p:cNvSpPr>
            <a:spLocks noGrp="1"/>
          </p:cNvSpPr>
          <p:nvPr/>
        </p:nvSpPr>
        <p:spPr>
          <a:xfrm>
            <a:off x="496119" y="3944541"/>
            <a:ext cx="3987254" cy="226814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sz="1100">
                <a:solidFill>
                  <a:srgbClr val="39393C"/>
                </a:solidFill>
                <a:latin typeface="Open Sans"/>
                <a:ea typeface="Open Sans"/>
                <a:cs typeface="Open Sans"/>
              </a:rPr>
              <a:t>PostgreSQL · Prisma ORM</a:t>
            </a:r>
          </a:p>
        </p:txBody>
      </p:sp>
      <p:pic>
        <p:nvPicPr>
          <p:cNvPr id="34" name="Image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60553" y="3177332"/>
            <a:ext cx="283518" cy="283518"/>
          </a:xfrm>
          <a:prstGeom prst="rect">
            <a:avLst/>
          </a:prstGeom>
        </p:spPr>
      </p:pic>
      <p:sp>
        <p:nvSpPr>
          <p:cNvPr id="15" name="Text 9">
            <a:extLst>
              <a:ext uri="{FF2B5EF4-FFF2-40B4-BE49-F238E27FC236}">
                <a16:creationId xmlns:a16="http://schemas.microsoft.com/office/drawing/2014/main" id="{B341C8A5-B4E8-458C-9CC9-53EC06658FFD}"/>
              </a:ext>
            </a:extLst>
          </p:cNvPr>
          <p:cNvSpPr>
            <a:spLocks noGrp="1"/>
          </p:cNvSpPr>
          <p:nvPr/>
        </p:nvSpPr>
        <p:spPr>
          <a:xfrm>
            <a:off x="4660553" y="3638029"/>
            <a:ext cx="3987329" cy="221456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sz="1350" b="1">
                <a:solidFill>
                  <a:srgbClr val="39393C"/>
                </a:solidFill>
                <a:latin typeface="Playfair Display Bold"/>
                <a:ea typeface="Playfair Display Bold"/>
                <a:cs typeface="Playfair Display Bold"/>
              </a:rPr>
              <a:t>Storage &amp; Deployment</a:t>
            </a:r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DA90D383-8DA5-458B-B60A-ABC4BF13D28A}"/>
              </a:ext>
            </a:extLst>
          </p:cNvPr>
          <p:cNvSpPr>
            <a:spLocks noGrp="1"/>
          </p:cNvSpPr>
          <p:nvPr/>
        </p:nvSpPr>
        <p:spPr>
          <a:xfrm>
            <a:off x="4660553" y="3944541"/>
            <a:ext cx="3987329" cy="226814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sz="1100">
                <a:solidFill>
                  <a:srgbClr val="39393C"/>
                </a:solidFill>
                <a:latin typeface="Open Sans"/>
                <a:ea typeface="Open Sans"/>
                <a:cs typeface="Open Sans"/>
              </a:rPr>
              <a:t>Amazon S3 · Netlify/Render targets</a:t>
            </a:r>
          </a:p>
        </p:txBody>
      </p:sp>
      <p:pic>
        <p:nvPicPr>
          <p:cNvPr id="37" name="Picture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5002" y="4844853"/>
            <a:ext cx="1518998" cy="251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939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07FDDA2-D2D3-464B-B0D9-89B41B9207EF}"/>
              </a:ext>
            </a:extLst>
          </p:cNvPr>
          <p:cNvSpPr>
            <a:spLocks noGrp="1"/>
          </p:cNvSpPr>
          <p:nvPr/>
        </p:nvSpPr>
        <p:spPr>
          <a:xfrm>
            <a:off x="496119" y="428848"/>
            <a:ext cx="1159669" cy="195114"/>
          </a:xfrm>
          <a:prstGeom prst="roundRect">
            <a:avLst>
              <a:gd name="adj" fmla="val 7902"/>
            </a:avLst>
          </a:prstGeom>
          <a:noFill/>
          <a:ln w="4763">
            <a:solidFill>
              <a:srgbClr val="101014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D376551-11CE-42C2-8709-ADDECD9C06A5}"/>
              </a:ext>
            </a:extLst>
          </p:cNvPr>
          <p:cNvSpPr>
            <a:spLocks noGrp="1"/>
          </p:cNvSpPr>
          <p:nvPr/>
        </p:nvSpPr>
        <p:spPr>
          <a:xfrm>
            <a:off x="573137" y="467320"/>
            <a:ext cx="1462832" cy="11817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sz="800">
                <a:solidFill>
                  <a:srgbClr val="101014"/>
                </a:solidFill>
                <a:latin typeface="Open Sans"/>
                <a:ea typeface="Open Sans"/>
                <a:cs typeface="Open Sans"/>
              </a:rPr>
              <a:t>STORE INTEGRATION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C9C2F03-2CBC-4F79-A5CA-0C5064F956EE}"/>
              </a:ext>
            </a:extLst>
          </p:cNvPr>
          <p:cNvSpPr>
            <a:spLocks noGrp="1"/>
          </p:cNvSpPr>
          <p:nvPr/>
        </p:nvSpPr>
        <p:spPr>
          <a:xfrm>
            <a:off x="496119" y="670471"/>
            <a:ext cx="8151763" cy="401464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sz="2500" b="1">
                <a:solidFill>
                  <a:srgbClr val="101014"/>
                </a:solidFill>
                <a:latin typeface="Playfair Display Bold"/>
                <a:ea typeface="Playfair Display Bold"/>
                <a:cs typeface="Playfair Display Bold"/>
              </a:rPr>
              <a:t>Seamless E-Commerce Sync</a:t>
            </a:r>
          </a:p>
        </p:txBody>
      </p:sp>
      <p:pic>
        <p:nvPicPr>
          <p:cNvPr id="18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683" y="1246510"/>
            <a:ext cx="6980560" cy="3141241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531B26CA-D461-4FB8-AEAD-6276D79EE491}"/>
              </a:ext>
            </a:extLst>
          </p:cNvPr>
          <p:cNvSpPr>
            <a:spLocks noGrp="1"/>
          </p:cNvSpPr>
          <p:nvPr/>
        </p:nvSpPr>
        <p:spPr>
          <a:xfrm>
            <a:off x="2415086" y="1384107"/>
            <a:ext cx="1221594" cy="188776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sz="1150" b="1">
                <a:solidFill>
                  <a:srgbClr val="39393C"/>
                </a:solidFill>
                <a:latin typeface="Playfair Display Bold"/>
                <a:ea typeface="Playfair Display Bold"/>
                <a:cs typeface="Playfair Display Bold"/>
              </a:rPr>
              <a:t>Verify Store</a:t>
            </a: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0F6CD074-6895-42DC-B170-79C234323FD7}"/>
              </a:ext>
            </a:extLst>
          </p:cNvPr>
          <p:cNvSpPr>
            <a:spLocks noGrp="1"/>
          </p:cNvSpPr>
          <p:nvPr/>
        </p:nvSpPr>
        <p:spPr>
          <a:xfrm>
            <a:off x="2415086" y="1626580"/>
            <a:ext cx="1221594" cy="287779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lnSpc>
                <a:spcPct val="99000"/>
              </a:lnSpc>
              <a:buNone/>
            </a:pPr>
            <a:r>
              <a:rPr sz="950">
                <a:solidFill>
                  <a:srgbClr val="39393C"/>
                </a:solidFill>
                <a:latin typeface="Open Sans"/>
                <a:ea typeface="Open Sans"/>
                <a:cs typeface="Open Sans"/>
              </a:rPr>
              <a:t>Confirm credentials and connection</a:t>
            </a: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BD9C7AE3-0F04-4D3A-94CE-517C47E37A28}"/>
              </a:ext>
            </a:extLst>
          </p:cNvPr>
          <p:cNvSpPr>
            <a:spLocks noGrp="1"/>
          </p:cNvSpPr>
          <p:nvPr/>
        </p:nvSpPr>
        <p:spPr>
          <a:xfrm>
            <a:off x="3958859" y="3645650"/>
            <a:ext cx="1228306" cy="37755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sz="1150" b="1">
                <a:solidFill>
                  <a:srgbClr val="39393C"/>
                </a:solidFill>
                <a:latin typeface="Playfair Display Bold"/>
                <a:ea typeface="Playfair Display Bold"/>
                <a:cs typeface="Playfair Display Bold"/>
              </a:rPr>
              <a:t>Synchronize Products</a:t>
            </a: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A8CFF401-072B-4881-A211-713DB302A270}"/>
              </a:ext>
            </a:extLst>
          </p:cNvPr>
          <p:cNvSpPr>
            <a:spLocks noGrp="1"/>
          </p:cNvSpPr>
          <p:nvPr/>
        </p:nvSpPr>
        <p:spPr>
          <a:xfrm>
            <a:off x="3958859" y="4076899"/>
            <a:ext cx="1228306" cy="287779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lnSpc>
                <a:spcPct val="99000"/>
              </a:lnSpc>
              <a:buNone/>
            </a:pPr>
            <a:r>
              <a:rPr sz="950">
                <a:solidFill>
                  <a:srgbClr val="39393C"/>
                </a:solidFill>
                <a:latin typeface="Open Sans"/>
                <a:ea typeface="Open Sans"/>
                <a:cs typeface="Open Sans"/>
              </a:rPr>
              <a:t>Import catalog and match fields</a:t>
            </a: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BEE4272B-AB63-4D6E-982B-D72110004073}"/>
              </a:ext>
            </a:extLst>
          </p:cNvPr>
          <p:cNvSpPr>
            <a:spLocks noGrp="1"/>
          </p:cNvSpPr>
          <p:nvPr/>
        </p:nvSpPr>
        <p:spPr>
          <a:xfrm>
            <a:off x="5455647" y="1360615"/>
            <a:ext cx="1221593" cy="188776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sz="1150" b="1">
                <a:solidFill>
                  <a:srgbClr val="39393C"/>
                </a:solidFill>
                <a:latin typeface="Playfair Display Bold"/>
                <a:ea typeface="Playfair Display Bold"/>
                <a:cs typeface="Playfair Display Bold"/>
              </a:rPr>
              <a:t>Manual Synchronization</a:t>
            </a: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1C3EB349-3D74-4AC8-868C-61982C7F9705}"/>
              </a:ext>
            </a:extLst>
          </p:cNvPr>
          <p:cNvSpPr>
            <a:spLocks noGrp="1"/>
          </p:cNvSpPr>
          <p:nvPr/>
        </p:nvSpPr>
        <p:spPr>
          <a:xfrm>
            <a:off x="5455647" y="1603088"/>
            <a:ext cx="1221593" cy="287779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lnSpc>
                <a:spcPct val="99000"/>
              </a:lnSpc>
              <a:buNone/>
            </a:pPr>
            <a:r>
              <a:rPr sz="950">
                <a:solidFill>
                  <a:srgbClr val="39393C"/>
                </a:solidFill>
                <a:latin typeface="Open Sans"/>
                <a:ea typeface="Open Sans"/>
                <a:cs typeface="Open Sans"/>
              </a:rPr>
              <a:t>User-triggered catalog updates</a:t>
            </a: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BF9CD07D-3020-45A9-914C-20D29DCF5613}"/>
              </a:ext>
            </a:extLst>
          </p:cNvPr>
          <p:cNvSpPr>
            <a:spLocks noGrp="1"/>
          </p:cNvSpPr>
          <p:nvPr/>
        </p:nvSpPr>
        <p:spPr>
          <a:xfrm>
            <a:off x="267519" y="4518720"/>
            <a:ext cx="8608963" cy="195932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ctr">
              <a:lnSpc>
                <a:spcPct val="127000"/>
              </a:lnSpc>
              <a:buNone/>
            </a:pPr>
            <a:r>
              <a:rPr sz="1000">
                <a:solidFill>
                  <a:srgbClr val="39393C"/>
                </a:solidFill>
                <a:latin typeface="Open Sans"/>
                <a:ea typeface="Open Sans"/>
                <a:cs typeface="Open Sans"/>
              </a:rPr>
              <a:t>After connecting a store, the user triggers product synchronization to import and update the catalog.</a:t>
            </a:r>
          </a:p>
        </p:txBody>
      </p:sp>
      <p:pic>
        <p:nvPicPr>
          <p:cNvPr id="26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5002" y="4844853"/>
            <a:ext cx="1518998" cy="251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5181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0837314-FC5B-44AD-A6C2-A8A3D70D2229}"/>
              </a:ext>
            </a:extLst>
          </p:cNvPr>
          <p:cNvSpPr>
            <a:spLocks noGrp="1"/>
          </p:cNvSpPr>
          <p:nvPr/>
        </p:nvSpPr>
        <p:spPr>
          <a:xfrm>
            <a:off x="496118" y="368498"/>
            <a:ext cx="733813" cy="189384"/>
          </a:xfrm>
          <a:prstGeom prst="roundRect">
            <a:avLst>
              <a:gd name="adj" fmla="val 7901"/>
            </a:avLst>
          </a:prstGeom>
          <a:noFill/>
          <a:ln w="4763">
            <a:solidFill>
              <a:srgbClr val="101014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E0203F4-B7A0-49AD-8B04-44C31866B711}"/>
              </a:ext>
            </a:extLst>
          </p:cNvPr>
          <p:cNvSpPr>
            <a:spLocks noGrp="1"/>
          </p:cNvSpPr>
          <p:nvPr/>
        </p:nvSpPr>
        <p:spPr>
          <a:xfrm>
            <a:off x="540132" y="428883"/>
            <a:ext cx="999381" cy="77391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sz="650" dirty="0">
                <a:solidFill>
                  <a:srgbClr val="101014"/>
                </a:solidFill>
                <a:latin typeface="Open Sans"/>
                <a:ea typeface="Open Sans"/>
                <a:cs typeface="Open Sans"/>
              </a:rPr>
              <a:t>POSTER PIPELINE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734300D-0D07-4093-B51E-1D9CF71EF980}"/>
              </a:ext>
            </a:extLst>
          </p:cNvPr>
          <p:cNvSpPr>
            <a:spLocks noGrp="1"/>
          </p:cNvSpPr>
          <p:nvPr/>
        </p:nvSpPr>
        <p:spPr>
          <a:xfrm>
            <a:off x="496119" y="564321"/>
            <a:ext cx="8151763" cy="263054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sz="1650" b="1" dirty="0">
                <a:solidFill>
                  <a:srgbClr val="101014"/>
                </a:solidFill>
                <a:latin typeface="Playfair Display Bold"/>
                <a:ea typeface="Playfair Display Bold"/>
                <a:cs typeface="Playfair Display Bold"/>
              </a:rPr>
              <a:t>End-to-End Poster Generation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D287F9B-171C-4DB1-B809-1CA9BD6DB2DE}"/>
              </a:ext>
            </a:extLst>
          </p:cNvPr>
          <p:cNvSpPr>
            <a:spLocks noGrp="1"/>
          </p:cNvSpPr>
          <p:nvPr/>
        </p:nvSpPr>
        <p:spPr>
          <a:xfrm>
            <a:off x="496119" y="895871"/>
            <a:ext cx="8608963" cy="134094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sz="800">
                <a:solidFill>
                  <a:srgbClr val="39393C"/>
                </a:solidFill>
                <a:latin typeface="Open Sans"/>
                <a:ea typeface="Open Sans"/>
                <a:cs typeface="Open Sans"/>
              </a:rPr>
              <a:t>Transforms synchronized product data into high-quality marketing posters through an automated rendering pipeline.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4FBF8F04-4EE1-4CB0-939E-444212E003A6}"/>
              </a:ext>
            </a:extLst>
          </p:cNvPr>
          <p:cNvSpPr>
            <a:spLocks noGrp="1"/>
          </p:cNvSpPr>
          <p:nvPr/>
        </p:nvSpPr>
        <p:spPr>
          <a:xfrm>
            <a:off x="496119" y="2091705"/>
            <a:ext cx="189384" cy="189384"/>
          </a:xfrm>
          <a:prstGeom prst="roundRect">
            <a:avLst>
              <a:gd name="adj" fmla="val 6667"/>
            </a:avLst>
          </a:prstGeom>
          <a:solidFill>
            <a:srgbClr val="E0E0EC"/>
          </a:solidFill>
        </p:spPr>
      </p:sp>
      <p:pic>
        <p:nvPicPr>
          <p:cNvPr id="57" name="Image 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7670" y="2123256"/>
            <a:ext cx="126206" cy="126206"/>
          </a:xfrm>
          <a:prstGeom prst="rect">
            <a:avLst/>
          </a:prstGeom>
        </p:spPr>
      </p:pic>
      <p:sp>
        <p:nvSpPr>
          <p:cNvPr id="8" name="Text 5">
            <a:extLst>
              <a:ext uri="{FF2B5EF4-FFF2-40B4-BE49-F238E27FC236}">
                <a16:creationId xmlns:a16="http://schemas.microsoft.com/office/drawing/2014/main" id="{977C6AEB-65E5-4AFC-AABF-5EB8FC4AE66F}"/>
              </a:ext>
            </a:extLst>
          </p:cNvPr>
          <p:cNvSpPr>
            <a:spLocks noGrp="1"/>
          </p:cNvSpPr>
          <p:nvPr/>
        </p:nvSpPr>
        <p:spPr>
          <a:xfrm>
            <a:off x="735434" y="2120578"/>
            <a:ext cx="3065264" cy="13149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sz="800" b="1">
                <a:solidFill>
                  <a:srgbClr val="39393C"/>
                </a:solidFill>
                <a:latin typeface="Playfair Display Bold"/>
                <a:ea typeface="Playfair Display Bold"/>
                <a:cs typeface="Playfair Display Bold"/>
              </a:rPr>
              <a:t>Product data is synchronized from Shopify or WooCommerce</a:t>
            </a: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B2222C42-8A10-404C-BA36-8C5F380978D1}"/>
              </a:ext>
            </a:extLst>
          </p:cNvPr>
          <p:cNvSpPr>
            <a:spLocks noGrp="1"/>
          </p:cNvSpPr>
          <p:nvPr/>
        </p:nvSpPr>
        <p:spPr>
          <a:xfrm>
            <a:off x="496119" y="2381027"/>
            <a:ext cx="189384" cy="189384"/>
          </a:xfrm>
          <a:prstGeom prst="roundRect">
            <a:avLst>
              <a:gd name="adj" fmla="val 6667"/>
            </a:avLst>
          </a:prstGeom>
          <a:solidFill>
            <a:srgbClr val="E0E0EC"/>
          </a:solidFill>
        </p:spPr>
      </p:sp>
      <p:pic>
        <p:nvPicPr>
          <p:cNvPr id="60" name="Image 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7670" y="2412578"/>
            <a:ext cx="126206" cy="126206"/>
          </a:xfrm>
          <a:prstGeom prst="rect">
            <a:avLst/>
          </a:prstGeom>
        </p:spPr>
      </p:pic>
      <p:sp>
        <p:nvSpPr>
          <p:cNvPr id="11" name="Text 7">
            <a:extLst>
              <a:ext uri="{FF2B5EF4-FFF2-40B4-BE49-F238E27FC236}">
                <a16:creationId xmlns:a16="http://schemas.microsoft.com/office/drawing/2014/main" id="{E7909658-6B6A-44D5-BB12-4405CF96C284}"/>
              </a:ext>
            </a:extLst>
          </p:cNvPr>
          <p:cNvSpPr>
            <a:spLocks noGrp="1"/>
          </p:cNvSpPr>
          <p:nvPr/>
        </p:nvSpPr>
        <p:spPr>
          <a:xfrm>
            <a:off x="735434" y="2409899"/>
            <a:ext cx="3065264" cy="13149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sz="800" b="1">
                <a:solidFill>
                  <a:srgbClr val="39393C"/>
                </a:solidFill>
                <a:latin typeface="Playfair Display Bold"/>
                <a:ea typeface="Playfair Display Bold"/>
                <a:cs typeface="Playfair Display Bold"/>
              </a:rPr>
              <a:t>A local marketing engine generates titles and promotional copy</a:t>
            </a:r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EFD9F0E8-D036-44F4-A667-6B4899F8EE55}"/>
              </a:ext>
            </a:extLst>
          </p:cNvPr>
          <p:cNvSpPr>
            <a:spLocks noGrp="1"/>
          </p:cNvSpPr>
          <p:nvPr/>
        </p:nvSpPr>
        <p:spPr>
          <a:xfrm>
            <a:off x="496119" y="2670349"/>
            <a:ext cx="189384" cy="189384"/>
          </a:xfrm>
          <a:prstGeom prst="roundRect">
            <a:avLst>
              <a:gd name="adj" fmla="val 6667"/>
            </a:avLst>
          </a:prstGeom>
          <a:solidFill>
            <a:srgbClr val="E0E0EC"/>
          </a:solidFill>
        </p:spPr>
      </p:sp>
      <p:pic>
        <p:nvPicPr>
          <p:cNvPr id="63" name="Imag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7670" y="2701900"/>
            <a:ext cx="126206" cy="126206"/>
          </a:xfrm>
          <a:prstGeom prst="rect">
            <a:avLst/>
          </a:prstGeom>
        </p:spPr>
      </p:pic>
      <p:sp>
        <p:nvSpPr>
          <p:cNvPr id="14" name="Text 9">
            <a:extLst>
              <a:ext uri="{FF2B5EF4-FFF2-40B4-BE49-F238E27FC236}">
                <a16:creationId xmlns:a16="http://schemas.microsoft.com/office/drawing/2014/main" id="{F608779D-C2F4-4C0C-AC6D-4B875A70D088}"/>
              </a:ext>
            </a:extLst>
          </p:cNvPr>
          <p:cNvSpPr>
            <a:spLocks noGrp="1"/>
          </p:cNvSpPr>
          <p:nvPr/>
        </p:nvSpPr>
        <p:spPr>
          <a:xfrm>
            <a:off x="735434" y="2699221"/>
            <a:ext cx="3065264" cy="13149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sz="800" b="1">
                <a:solidFill>
                  <a:srgbClr val="39393C"/>
                </a:solidFill>
                <a:latin typeface="Playfair Display Bold"/>
                <a:ea typeface="Playfair Display Bold"/>
                <a:cs typeface="Playfair Display Bold"/>
              </a:rPr>
              <a:t>TypeScript templates are converted into editable SVG layouts</a:t>
            </a:r>
          </a:p>
        </p:txBody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FED1660C-2F30-4CD2-BDA2-DAF4707BEDA5}"/>
              </a:ext>
            </a:extLst>
          </p:cNvPr>
          <p:cNvSpPr>
            <a:spLocks noGrp="1"/>
          </p:cNvSpPr>
          <p:nvPr/>
        </p:nvSpPr>
        <p:spPr>
          <a:xfrm>
            <a:off x="496119" y="2959671"/>
            <a:ext cx="189384" cy="189384"/>
          </a:xfrm>
          <a:prstGeom prst="roundRect">
            <a:avLst>
              <a:gd name="adj" fmla="val 6667"/>
            </a:avLst>
          </a:prstGeom>
          <a:solidFill>
            <a:srgbClr val="E0E0EC"/>
          </a:solidFill>
        </p:spPr>
      </p:sp>
      <p:pic>
        <p:nvPicPr>
          <p:cNvPr id="66" name="Image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7670" y="2991222"/>
            <a:ext cx="126206" cy="126206"/>
          </a:xfrm>
          <a:prstGeom prst="rect">
            <a:avLst/>
          </a:prstGeom>
        </p:spPr>
      </p:pic>
      <p:sp>
        <p:nvSpPr>
          <p:cNvPr id="17" name="Text 11">
            <a:extLst>
              <a:ext uri="{FF2B5EF4-FFF2-40B4-BE49-F238E27FC236}">
                <a16:creationId xmlns:a16="http://schemas.microsoft.com/office/drawing/2014/main" id="{62B76EEA-9FC1-4D84-AAB0-3D273CF3E1A5}"/>
              </a:ext>
            </a:extLst>
          </p:cNvPr>
          <p:cNvSpPr>
            <a:spLocks noGrp="1"/>
          </p:cNvSpPr>
          <p:nvPr/>
        </p:nvSpPr>
        <p:spPr>
          <a:xfrm>
            <a:off x="735434" y="2988543"/>
            <a:ext cx="3065264" cy="13149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sz="800" b="1">
                <a:solidFill>
                  <a:srgbClr val="39393C"/>
                </a:solidFill>
                <a:latin typeface="Playfair Display Bold"/>
                <a:ea typeface="Playfair Display Bold"/>
                <a:cs typeface="Playfair Display Bold"/>
              </a:rPr>
              <a:t>Sharp/libvips rasterizes the SVG into a high-quality PNG</a:t>
            </a:r>
          </a:p>
        </p:txBody>
      </p:sp>
      <p:sp>
        <p:nvSpPr>
          <p:cNvPr id="18" name="Shape 12">
            <a:extLst>
              <a:ext uri="{FF2B5EF4-FFF2-40B4-BE49-F238E27FC236}">
                <a16:creationId xmlns:a16="http://schemas.microsoft.com/office/drawing/2014/main" id="{7BB0A8FB-7FA2-41C6-9E8E-E78A6A9C00E1}"/>
              </a:ext>
            </a:extLst>
          </p:cNvPr>
          <p:cNvSpPr>
            <a:spLocks noGrp="1"/>
          </p:cNvSpPr>
          <p:nvPr/>
        </p:nvSpPr>
        <p:spPr>
          <a:xfrm>
            <a:off x="496119" y="3248992"/>
            <a:ext cx="189384" cy="189384"/>
          </a:xfrm>
          <a:prstGeom prst="roundRect">
            <a:avLst>
              <a:gd name="adj" fmla="val 6667"/>
            </a:avLst>
          </a:prstGeom>
          <a:solidFill>
            <a:srgbClr val="E0E0EC"/>
          </a:solidFill>
        </p:spPr>
      </p:sp>
      <p:pic>
        <p:nvPicPr>
          <p:cNvPr id="69" name="Imag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7670" y="3280544"/>
            <a:ext cx="126206" cy="126206"/>
          </a:xfrm>
          <a:prstGeom prst="rect">
            <a:avLst/>
          </a:prstGeom>
        </p:spPr>
      </p:pic>
      <p:sp>
        <p:nvSpPr>
          <p:cNvPr id="20" name="Text 13">
            <a:extLst>
              <a:ext uri="{FF2B5EF4-FFF2-40B4-BE49-F238E27FC236}">
                <a16:creationId xmlns:a16="http://schemas.microsoft.com/office/drawing/2014/main" id="{C8D86172-752B-403A-8CF5-EC650584D43A}"/>
              </a:ext>
            </a:extLst>
          </p:cNvPr>
          <p:cNvSpPr>
            <a:spLocks noGrp="1"/>
          </p:cNvSpPr>
          <p:nvPr/>
        </p:nvSpPr>
        <p:spPr>
          <a:xfrm>
            <a:off x="735434" y="3277865"/>
            <a:ext cx="3065264" cy="13149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sz="800" b="1">
                <a:solidFill>
                  <a:srgbClr val="39393C"/>
                </a:solidFill>
                <a:latin typeface="Playfair Display Bold"/>
                <a:ea typeface="Playfair Display Bold"/>
                <a:cs typeface="Playfair Display Bold"/>
              </a:rPr>
              <a:t>The PNG is stored in Amazon S3</a:t>
            </a:r>
          </a:p>
        </p:txBody>
      </p:sp>
      <p:sp>
        <p:nvSpPr>
          <p:cNvPr id="21" name="Shape 14">
            <a:extLst>
              <a:ext uri="{FF2B5EF4-FFF2-40B4-BE49-F238E27FC236}">
                <a16:creationId xmlns:a16="http://schemas.microsoft.com/office/drawing/2014/main" id="{F2EC661F-2FD7-470E-9334-B181BA1270B0}"/>
              </a:ext>
            </a:extLst>
          </p:cNvPr>
          <p:cNvSpPr>
            <a:spLocks noGrp="1"/>
          </p:cNvSpPr>
          <p:nvPr/>
        </p:nvSpPr>
        <p:spPr>
          <a:xfrm>
            <a:off x="496119" y="3538314"/>
            <a:ext cx="189384" cy="189384"/>
          </a:xfrm>
          <a:prstGeom prst="roundRect">
            <a:avLst>
              <a:gd name="adj" fmla="val 6667"/>
            </a:avLst>
          </a:prstGeom>
          <a:solidFill>
            <a:srgbClr val="E0E0EC"/>
          </a:solidFill>
        </p:spPr>
      </p:sp>
      <p:pic>
        <p:nvPicPr>
          <p:cNvPr id="72" name="Imag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7670" y="3569866"/>
            <a:ext cx="126206" cy="126206"/>
          </a:xfrm>
          <a:prstGeom prst="rect">
            <a:avLst/>
          </a:prstGeom>
        </p:spPr>
      </p:pic>
      <p:sp>
        <p:nvSpPr>
          <p:cNvPr id="23" name="Text 15">
            <a:extLst>
              <a:ext uri="{FF2B5EF4-FFF2-40B4-BE49-F238E27FC236}">
                <a16:creationId xmlns:a16="http://schemas.microsoft.com/office/drawing/2014/main" id="{E595AC50-220B-4317-93FD-08194377EDA8}"/>
              </a:ext>
            </a:extLst>
          </p:cNvPr>
          <p:cNvSpPr>
            <a:spLocks noGrp="1"/>
          </p:cNvSpPr>
          <p:nvPr/>
        </p:nvSpPr>
        <p:spPr>
          <a:xfrm>
            <a:off x="735434" y="3567187"/>
            <a:ext cx="3065264" cy="13149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sz="800" b="1">
                <a:solidFill>
                  <a:srgbClr val="39393C"/>
                </a:solidFill>
                <a:latin typeface="Playfair Display Bold"/>
                <a:ea typeface="Playfair Display Bold"/>
                <a:cs typeface="Playfair Display Bold"/>
              </a:rPr>
              <a:t>The export API streams the stored poster to the user</a:t>
            </a:r>
          </a:p>
        </p:txBody>
      </p:sp>
      <p:pic>
        <p:nvPicPr>
          <p:cNvPr id="74" name="Imag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0844" y="1142330"/>
            <a:ext cx="420812" cy="504974"/>
          </a:xfrm>
          <a:prstGeom prst="rect">
            <a:avLst/>
          </a:prstGeom>
        </p:spPr>
      </p:pic>
      <p:sp>
        <p:nvSpPr>
          <p:cNvPr id="25" name="Text 16">
            <a:extLst>
              <a:ext uri="{FF2B5EF4-FFF2-40B4-BE49-F238E27FC236}">
                <a16:creationId xmlns:a16="http://schemas.microsoft.com/office/drawing/2014/main" id="{C59023B2-D41E-4BA4-B724-49162CF8E04C}"/>
              </a:ext>
            </a:extLst>
          </p:cNvPr>
          <p:cNvSpPr>
            <a:spLocks noGrp="1"/>
          </p:cNvSpPr>
          <p:nvPr/>
        </p:nvSpPr>
        <p:spPr>
          <a:xfrm>
            <a:off x="4481587" y="1226493"/>
            <a:ext cx="4170983" cy="13149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sz="800" b="1">
                <a:solidFill>
                  <a:srgbClr val="39393C"/>
                </a:solidFill>
                <a:latin typeface="Playfair Display Bold"/>
                <a:ea typeface="Playfair Display Bold"/>
                <a:cs typeface="Playfair Display Bold"/>
              </a:rPr>
              <a:t>Product Sync</a:t>
            </a:r>
          </a:p>
        </p:txBody>
      </p:sp>
      <p:pic>
        <p:nvPicPr>
          <p:cNvPr id="76" name="Imag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10844" y="1647304"/>
            <a:ext cx="420812" cy="504974"/>
          </a:xfrm>
          <a:prstGeom prst="rect">
            <a:avLst/>
          </a:prstGeom>
        </p:spPr>
      </p:pic>
      <p:sp>
        <p:nvSpPr>
          <p:cNvPr id="27" name="Text 17">
            <a:extLst>
              <a:ext uri="{FF2B5EF4-FFF2-40B4-BE49-F238E27FC236}">
                <a16:creationId xmlns:a16="http://schemas.microsoft.com/office/drawing/2014/main" id="{C19CD507-9636-4FB5-AAB1-52D7D1EB77DF}"/>
              </a:ext>
            </a:extLst>
          </p:cNvPr>
          <p:cNvSpPr>
            <a:spLocks noGrp="1"/>
          </p:cNvSpPr>
          <p:nvPr/>
        </p:nvSpPr>
        <p:spPr>
          <a:xfrm>
            <a:off x="4481587" y="1731466"/>
            <a:ext cx="4170983" cy="13149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sz="800" b="1">
                <a:solidFill>
                  <a:srgbClr val="39393C"/>
                </a:solidFill>
                <a:latin typeface="Playfair Display Bold"/>
                <a:ea typeface="Playfair Display Bold"/>
                <a:cs typeface="Playfair Display Bold"/>
              </a:rPr>
              <a:t>Marketing Content</a:t>
            </a:r>
          </a:p>
        </p:txBody>
      </p:sp>
      <p:pic>
        <p:nvPicPr>
          <p:cNvPr id="78" name="Imag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10844" y="2152278"/>
            <a:ext cx="420812" cy="504974"/>
          </a:xfrm>
          <a:prstGeom prst="rect">
            <a:avLst/>
          </a:prstGeom>
        </p:spPr>
      </p:pic>
      <p:sp>
        <p:nvSpPr>
          <p:cNvPr id="29" name="Text 18">
            <a:extLst>
              <a:ext uri="{FF2B5EF4-FFF2-40B4-BE49-F238E27FC236}">
                <a16:creationId xmlns:a16="http://schemas.microsoft.com/office/drawing/2014/main" id="{10F8A642-191A-4BF4-801C-988233CF7331}"/>
              </a:ext>
            </a:extLst>
          </p:cNvPr>
          <p:cNvSpPr>
            <a:spLocks noGrp="1"/>
          </p:cNvSpPr>
          <p:nvPr/>
        </p:nvSpPr>
        <p:spPr>
          <a:xfrm>
            <a:off x="4481587" y="2236440"/>
            <a:ext cx="4170983" cy="13149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sz="800" b="1">
                <a:solidFill>
                  <a:srgbClr val="39393C"/>
                </a:solidFill>
                <a:latin typeface="Playfair Display Bold"/>
                <a:ea typeface="Playfair Display Bold"/>
                <a:cs typeface="Playfair Display Bold"/>
              </a:rPr>
              <a:t>Template &amp; Design Composition</a:t>
            </a:r>
          </a:p>
        </p:txBody>
      </p:sp>
      <p:pic>
        <p:nvPicPr>
          <p:cNvPr id="80" name="Imag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10844" y="2657252"/>
            <a:ext cx="420812" cy="504974"/>
          </a:xfrm>
          <a:prstGeom prst="rect">
            <a:avLst/>
          </a:prstGeom>
        </p:spPr>
      </p:pic>
      <p:sp>
        <p:nvSpPr>
          <p:cNvPr id="31" name="Text 19">
            <a:extLst>
              <a:ext uri="{FF2B5EF4-FFF2-40B4-BE49-F238E27FC236}">
                <a16:creationId xmlns:a16="http://schemas.microsoft.com/office/drawing/2014/main" id="{B0A06FDD-8BE9-48E7-A26D-6E2E51B1E6C6}"/>
              </a:ext>
            </a:extLst>
          </p:cNvPr>
          <p:cNvSpPr>
            <a:spLocks noGrp="1"/>
          </p:cNvSpPr>
          <p:nvPr/>
        </p:nvSpPr>
        <p:spPr>
          <a:xfrm>
            <a:off x="4481587" y="2741414"/>
            <a:ext cx="4170983" cy="13149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sz="800" b="1">
                <a:solidFill>
                  <a:srgbClr val="39393C"/>
                </a:solidFill>
                <a:latin typeface="Playfair Display Bold"/>
                <a:ea typeface="Playfair Display Bold"/>
                <a:cs typeface="Playfair Display Bold"/>
              </a:rPr>
              <a:t>SVG Layout</a:t>
            </a:r>
          </a:p>
        </p:txBody>
      </p:sp>
      <p:pic>
        <p:nvPicPr>
          <p:cNvPr id="82" name="Imag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10844" y="3162226"/>
            <a:ext cx="420812" cy="504974"/>
          </a:xfrm>
          <a:prstGeom prst="rect">
            <a:avLst/>
          </a:prstGeom>
        </p:spPr>
      </p:pic>
      <p:sp>
        <p:nvSpPr>
          <p:cNvPr id="33" name="Text 20">
            <a:extLst>
              <a:ext uri="{FF2B5EF4-FFF2-40B4-BE49-F238E27FC236}">
                <a16:creationId xmlns:a16="http://schemas.microsoft.com/office/drawing/2014/main" id="{CF913325-829C-476A-A0B6-1ED0A9AA9DD2}"/>
              </a:ext>
            </a:extLst>
          </p:cNvPr>
          <p:cNvSpPr>
            <a:spLocks noGrp="1"/>
          </p:cNvSpPr>
          <p:nvPr/>
        </p:nvSpPr>
        <p:spPr>
          <a:xfrm>
            <a:off x="4481587" y="3246388"/>
            <a:ext cx="4170983" cy="13149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sz="800" b="1">
                <a:solidFill>
                  <a:srgbClr val="39393C"/>
                </a:solidFill>
                <a:latin typeface="Playfair Display Bold"/>
                <a:ea typeface="Playfair Display Bold"/>
                <a:cs typeface="Playfair Display Bold"/>
              </a:rPr>
              <a:t>Sharp PNG Rendering</a:t>
            </a:r>
          </a:p>
        </p:txBody>
      </p:sp>
      <p:pic>
        <p:nvPicPr>
          <p:cNvPr id="84" name="Imag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10844" y="3667199"/>
            <a:ext cx="420812" cy="504974"/>
          </a:xfrm>
          <a:prstGeom prst="rect">
            <a:avLst/>
          </a:prstGeom>
        </p:spPr>
      </p:pic>
      <p:sp>
        <p:nvSpPr>
          <p:cNvPr id="35" name="Text 21">
            <a:extLst>
              <a:ext uri="{FF2B5EF4-FFF2-40B4-BE49-F238E27FC236}">
                <a16:creationId xmlns:a16="http://schemas.microsoft.com/office/drawing/2014/main" id="{0B468F32-7473-4837-AC66-FD9CE9D326E4}"/>
              </a:ext>
            </a:extLst>
          </p:cNvPr>
          <p:cNvSpPr>
            <a:spLocks noGrp="1"/>
          </p:cNvSpPr>
          <p:nvPr/>
        </p:nvSpPr>
        <p:spPr>
          <a:xfrm>
            <a:off x="4481587" y="3751362"/>
            <a:ext cx="4170983" cy="13149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sz="800" b="1">
                <a:solidFill>
                  <a:srgbClr val="39393C"/>
                </a:solidFill>
                <a:latin typeface="Playfair Display Bold"/>
                <a:ea typeface="Playfair Display Bold"/>
                <a:cs typeface="Playfair Display Bold"/>
              </a:rPr>
              <a:t>Amazon S3 </a:t>
            </a:r>
          </a:p>
        </p:txBody>
      </p:sp>
      <p:pic>
        <p:nvPicPr>
          <p:cNvPr id="86" name="Image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10844" y="4172173"/>
            <a:ext cx="420812" cy="504974"/>
          </a:xfrm>
          <a:prstGeom prst="rect">
            <a:avLst/>
          </a:prstGeom>
        </p:spPr>
      </p:pic>
      <p:sp>
        <p:nvSpPr>
          <p:cNvPr id="37" name="Text 22">
            <a:extLst>
              <a:ext uri="{FF2B5EF4-FFF2-40B4-BE49-F238E27FC236}">
                <a16:creationId xmlns:a16="http://schemas.microsoft.com/office/drawing/2014/main" id="{21DC74B8-603E-494E-B6F1-8291A44548D6}"/>
              </a:ext>
            </a:extLst>
          </p:cNvPr>
          <p:cNvSpPr>
            <a:spLocks noGrp="1"/>
          </p:cNvSpPr>
          <p:nvPr/>
        </p:nvSpPr>
        <p:spPr>
          <a:xfrm>
            <a:off x="4481587" y="4256336"/>
            <a:ext cx="4170983" cy="13149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sz="800" b="1">
                <a:solidFill>
                  <a:srgbClr val="39393C"/>
                </a:solidFill>
                <a:latin typeface="Playfair Display Bold"/>
                <a:ea typeface="Playfair Display Bold"/>
                <a:cs typeface="Playfair Display Bold"/>
              </a:rPr>
              <a:t>Export &amp; Download</a:t>
            </a:r>
          </a:p>
        </p:txBody>
      </p:sp>
      <p:pic>
        <p:nvPicPr>
          <p:cNvPr id="88" name="Picture 3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25002" y="4844853"/>
            <a:ext cx="1518998" cy="251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6117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022FC77-301B-446B-98EE-CBFDA38FCBA9}"/>
              </a:ext>
            </a:extLst>
          </p:cNvPr>
          <p:cNvSpPr>
            <a:spLocks noGrp="1"/>
          </p:cNvSpPr>
          <p:nvPr/>
        </p:nvSpPr>
        <p:spPr>
          <a:xfrm>
            <a:off x="496119" y="426318"/>
            <a:ext cx="1025277" cy="215354"/>
          </a:xfrm>
          <a:prstGeom prst="roundRect">
            <a:avLst>
              <a:gd name="adj" fmla="val 7900"/>
            </a:avLst>
          </a:prstGeom>
          <a:noFill/>
          <a:ln w="4763">
            <a:solidFill>
              <a:srgbClr val="101014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12CE8E5-67C7-4899-8964-3F3D800AE616}"/>
              </a:ext>
            </a:extLst>
          </p:cNvPr>
          <p:cNvSpPr>
            <a:spLocks noGrp="1"/>
          </p:cNvSpPr>
          <p:nvPr/>
        </p:nvSpPr>
        <p:spPr>
          <a:xfrm>
            <a:off x="581174" y="468809"/>
            <a:ext cx="1312366" cy="130373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sz="850">
                <a:solidFill>
                  <a:srgbClr val="101014"/>
                </a:solidFill>
                <a:latin typeface="Open Sans"/>
                <a:ea typeface="Open Sans"/>
                <a:cs typeface="Open Sans"/>
              </a:rPr>
              <a:t>CORE FEATURES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48779A1-BBB0-401B-A8EC-E75720845FCD}"/>
              </a:ext>
            </a:extLst>
          </p:cNvPr>
          <p:cNvSpPr>
            <a:spLocks noGrp="1"/>
          </p:cNvSpPr>
          <p:nvPr/>
        </p:nvSpPr>
        <p:spPr>
          <a:xfrm>
            <a:off x="496119" y="698376"/>
            <a:ext cx="8151763" cy="442987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sz="2750" b="1">
                <a:solidFill>
                  <a:srgbClr val="101014"/>
                </a:solidFill>
                <a:latin typeface="Playfair Display Bold"/>
                <a:ea typeface="Playfair Display Bold"/>
                <a:cs typeface="Playfair Display Bold"/>
              </a:rPr>
              <a:t>Core Platform Features</a:t>
            </a: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4546472-FF53-4960-9C30-9B0597928742}"/>
              </a:ext>
            </a:extLst>
          </p:cNvPr>
          <p:cNvSpPr>
            <a:spLocks noGrp="1"/>
          </p:cNvSpPr>
          <p:nvPr/>
        </p:nvSpPr>
        <p:spPr>
          <a:xfrm>
            <a:off x="496119" y="1353964"/>
            <a:ext cx="2622724" cy="1837506"/>
          </a:xfrm>
          <a:prstGeom prst="roundRect">
            <a:avLst>
              <a:gd name="adj" fmla="val 1157"/>
            </a:avLst>
          </a:prstGeom>
          <a:solidFill>
            <a:srgbClr val="E0E0EC"/>
          </a:solidFill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C5C6EE2B-4A9A-4322-9DED-64064839D686}"/>
              </a:ext>
            </a:extLst>
          </p:cNvPr>
          <p:cNvSpPr>
            <a:spLocks noGrp="1"/>
          </p:cNvSpPr>
          <p:nvPr/>
        </p:nvSpPr>
        <p:spPr>
          <a:xfrm>
            <a:off x="637877" y="1495723"/>
            <a:ext cx="425276" cy="425276"/>
          </a:xfrm>
          <a:prstGeom prst="ellipse">
            <a:avLst/>
          </a:prstGeom>
          <a:solidFill>
            <a:srgbClr val="101014"/>
          </a:solidFill>
        </p:spPr>
      </p:sp>
      <p:pic>
        <p:nvPicPr>
          <p:cNvPr id="41" name="Image 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4856" y="1612627"/>
            <a:ext cx="191319" cy="191319"/>
          </a:xfrm>
          <a:prstGeom prst="rect">
            <a:avLst/>
          </a:prstGeom>
        </p:spPr>
      </p:pic>
      <p:sp>
        <p:nvSpPr>
          <p:cNvPr id="8" name="Text 5">
            <a:extLst>
              <a:ext uri="{FF2B5EF4-FFF2-40B4-BE49-F238E27FC236}">
                <a16:creationId xmlns:a16="http://schemas.microsoft.com/office/drawing/2014/main" id="{64A4C146-0C9A-4601-9D12-81D11182BC85}"/>
              </a:ext>
            </a:extLst>
          </p:cNvPr>
          <p:cNvSpPr>
            <a:spLocks noGrp="1"/>
          </p:cNvSpPr>
          <p:nvPr/>
        </p:nvSpPr>
        <p:spPr>
          <a:xfrm>
            <a:off x="637877" y="2062758"/>
            <a:ext cx="2339206" cy="221456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sz="1350" b="1">
                <a:solidFill>
                  <a:srgbClr val="39393C"/>
                </a:solidFill>
                <a:latin typeface="Playfair Display Bold"/>
                <a:ea typeface="Playfair Display Bold"/>
                <a:cs typeface="Playfair Display Bold"/>
              </a:rPr>
              <a:t>Auth &amp; Access</a:t>
            </a: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9EC3ACB8-232C-4554-8DED-1B3050B10589}"/>
              </a:ext>
            </a:extLst>
          </p:cNvPr>
          <p:cNvSpPr>
            <a:spLocks noGrp="1"/>
          </p:cNvSpPr>
          <p:nvPr/>
        </p:nvSpPr>
        <p:spPr>
          <a:xfrm>
            <a:off x="637877" y="2369269"/>
            <a:ext cx="2339206" cy="45362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sz="1100">
                <a:solidFill>
                  <a:srgbClr val="39393C"/>
                </a:solidFill>
                <a:latin typeface="Open Sans"/>
                <a:ea typeface="Open Sans"/>
                <a:cs typeface="Open Sans"/>
              </a:rPr>
              <a:t>Google OAuth, email login, password recovery</a:t>
            </a:r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B9E90892-6E31-43BC-B8FD-5C05FC7C94B8}"/>
              </a:ext>
            </a:extLst>
          </p:cNvPr>
          <p:cNvSpPr>
            <a:spLocks noGrp="1"/>
          </p:cNvSpPr>
          <p:nvPr/>
        </p:nvSpPr>
        <p:spPr>
          <a:xfrm>
            <a:off x="3260601" y="1353964"/>
            <a:ext cx="2622724" cy="1837506"/>
          </a:xfrm>
          <a:prstGeom prst="roundRect">
            <a:avLst>
              <a:gd name="adj" fmla="val 1157"/>
            </a:avLst>
          </a:prstGeom>
          <a:solidFill>
            <a:srgbClr val="E0E0EC"/>
          </a:solidFill>
        </p:spPr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67EABFC0-E53A-4466-A30B-3E148B70871D}"/>
              </a:ext>
            </a:extLst>
          </p:cNvPr>
          <p:cNvSpPr>
            <a:spLocks noGrp="1"/>
          </p:cNvSpPr>
          <p:nvPr/>
        </p:nvSpPr>
        <p:spPr>
          <a:xfrm>
            <a:off x="3402360" y="1495723"/>
            <a:ext cx="425276" cy="425276"/>
          </a:xfrm>
          <a:prstGeom prst="ellipse">
            <a:avLst/>
          </a:prstGeom>
          <a:solidFill>
            <a:srgbClr val="101014"/>
          </a:solidFill>
        </p:spPr>
      </p:sp>
      <p:pic>
        <p:nvPicPr>
          <p:cNvPr id="46" name="Image 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19339" y="1612627"/>
            <a:ext cx="191319" cy="191319"/>
          </a:xfrm>
          <a:prstGeom prst="rect">
            <a:avLst/>
          </a:prstGeom>
        </p:spPr>
      </p:pic>
      <p:sp>
        <p:nvSpPr>
          <p:cNvPr id="13" name="Text 9">
            <a:extLst>
              <a:ext uri="{FF2B5EF4-FFF2-40B4-BE49-F238E27FC236}">
                <a16:creationId xmlns:a16="http://schemas.microsoft.com/office/drawing/2014/main" id="{882C093C-A2A8-4B02-A034-4F0533188E03}"/>
              </a:ext>
            </a:extLst>
          </p:cNvPr>
          <p:cNvSpPr>
            <a:spLocks noGrp="1"/>
          </p:cNvSpPr>
          <p:nvPr/>
        </p:nvSpPr>
        <p:spPr>
          <a:xfrm>
            <a:off x="3402360" y="2062758"/>
            <a:ext cx="2339206" cy="221456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sz="1350" b="1">
                <a:solidFill>
                  <a:srgbClr val="39393C"/>
                </a:solidFill>
                <a:latin typeface="Playfair Display Bold"/>
                <a:ea typeface="Playfair Display Bold"/>
                <a:cs typeface="Playfair Display Bold"/>
              </a:rPr>
              <a:t>Product Management</a:t>
            </a:r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34A85C78-90C6-4D65-8001-CD3053210B66}"/>
              </a:ext>
            </a:extLst>
          </p:cNvPr>
          <p:cNvSpPr>
            <a:spLocks noGrp="1"/>
          </p:cNvSpPr>
          <p:nvPr/>
        </p:nvSpPr>
        <p:spPr>
          <a:xfrm>
            <a:off x="3402360" y="2369269"/>
            <a:ext cx="2339206" cy="68044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sz="1100">
                <a:solidFill>
                  <a:srgbClr val="39393C"/>
                </a:solidFill>
                <a:latin typeface="Open Sans"/>
                <a:ea typeface="Open Sans"/>
                <a:cs typeface="Open Sans"/>
              </a:rPr>
              <a:t>Store connection and user-triggered product synchronization</a:t>
            </a:r>
          </a:p>
        </p:txBody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8D0E65B5-68C3-4B0D-AFEB-6629AE38688E}"/>
              </a:ext>
            </a:extLst>
          </p:cNvPr>
          <p:cNvSpPr>
            <a:spLocks noGrp="1"/>
          </p:cNvSpPr>
          <p:nvPr/>
        </p:nvSpPr>
        <p:spPr>
          <a:xfrm>
            <a:off x="6025083" y="1353964"/>
            <a:ext cx="2622724" cy="1837506"/>
          </a:xfrm>
          <a:prstGeom prst="roundRect">
            <a:avLst>
              <a:gd name="adj" fmla="val 1157"/>
            </a:avLst>
          </a:prstGeom>
          <a:solidFill>
            <a:srgbClr val="E0E0EC"/>
          </a:solidFill>
        </p:spPr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5DB41EC0-CF8F-451F-8F41-C8E49E0DE70A}"/>
              </a:ext>
            </a:extLst>
          </p:cNvPr>
          <p:cNvSpPr>
            <a:spLocks noGrp="1"/>
          </p:cNvSpPr>
          <p:nvPr/>
        </p:nvSpPr>
        <p:spPr>
          <a:xfrm>
            <a:off x="6166842" y="1495723"/>
            <a:ext cx="425276" cy="425276"/>
          </a:xfrm>
          <a:prstGeom prst="ellipse">
            <a:avLst/>
          </a:prstGeom>
          <a:solidFill>
            <a:srgbClr val="101014"/>
          </a:solidFill>
        </p:spPr>
      </p:sp>
      <p:pic>
        <p:nvPicPr>
          <p:cNvPr id="51" name="Image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83821" y="1612627"/>
            <a:ext cx="191319" cy="191319"/>
          </a:xfrm>
          <a:prstGeom prst="rect">
            <a:avLst/>
          </a:prstGeom>
        </p:spPr>
      </p:pic>
      <p:sp>
        <p:nvSpPr>
          <p:cNvPr id="18" name="Text 13">
            <a:extLst>
              <a:ext uri="{FF2B5EF4-FFF2-40B4-BE49-F238E27FC236}">
                <a16:creationId xmlns:a16="http://schemas.microsoft.com/office/drawing/2014/main" id="{C62FE900-1CCB-4C40-9993-C750D19E5C43}"/>
              </a:ext>
            </a:extLst>
          </p:cNvPr>
          <p:cNvSpPr>
            <a:spLocks noGrp="1"/>
          </p:cNvSpPr>
          <p:nvPr/>
        </p:nvSpPr>
        <p:spPr>
          <a:xfrm>
            <a:off x="6166842" y="2062758"/>
            <a:ext cx="2339206" cy="221456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sz="1350" b="1">
                <a:solidFill>
                  <a:srgbClr val="39393C"/>
                </a:solidFill>
                <a:latin typeface="Playfair Display Bold"/>
                <a:ea typeface="Playfair Display Bold"/>
                <a:cs typeface="Playfair Display Bold"/>
              </a:rPr>
              <a:t>Poster Generation</a:t>
            </a:r>
          </a:p>
        </p:txBody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D2D4A7EB-9F7D-4830-8C47-526389AD3FAE}"/>
              </a:ext>
            </a:extLst>
          </p:cNvPr>
          <p:cNvSpPr>
            <a:spLocks noGrp="1"/>
          </p:cNvSpPr>
          <p:nvPr/>
        </p:nvSpPr>
        <p:spPr>
          <a:xfrm>
            <a:off x="6166842" y="2369269"/>
            <a:ext cx="2339206" cy="453628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9669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sz="1100">
                <a:solidFill>
                  <a:srgbClr val="39393C"/>
                </a:solidFill>
                <a:latin typeface="Open Sans"/>
                <a:ea typeface="Open Sans"/>
                <a:cs typeface="Open Sans"/>
              </a:rPr>
              <a:t>Marketing content, SVG composition, and Sharp PNG rendering</a:t>
            </a:r>
          </a:p>
        </p:txBody>
      </p:sp>
      <p:sp>
        <p:nvSpPr>
          <p:cNvPr id="20" name="Shape 15">
            <a:extLst>
              <a:ext uri="{FF2B5EF4-FFF2-40B4-BE49-F238E27FC236}">
                <a16:creationId xmlns:a16="http://schemas.microsoft.com/office/drawing/2014/main" id="{9A0B0064-790E-4972-A706-F185B03AE441}"/>
              </a:ext>
            </a:extLst>
          </p:cNvPr>
          <p:cNvSpPr>
            <a:spLocks noGrp="1"/>
          </p:cNvSpPr>
          <p:nvPr/>
        </p:nvSpPr>
        <p:spPr>
          <a:xfrm>
            <a:off x="496119" y="3333229"/>
            <a:ext cx="4004965" cy="1383878"/>
          </a:xfrm>
          <a:prstGeom prst="roundRect">
            <a:avLst>
              <a:gd name="adj" fmla="val 1537"/>
            </a:avLst>
          </a:prstGeom>
          <a:solidFill>
            <a:srgbClr val="E0E0EC"/>
          </a:solidFill>
        </p:spPr>
      </p:sp>
      <p:sp>
        <p:nvSpPr>
          <p:cNvPr id="21" name="Shape 16">
            <a:extLst>
              <a:ext uri="{FF2B5EF4-FFF2-40B4-BE49-F238E27FC236}">
                <a16:creationId xmlns:a16="http://schemas.microsoft.com/office/drawing/2014/main" id="{A103EFDC-988C-4989-B4BA-98367FFD9AFB}"/>
              </a:ext>
            </a:extLst>
          </p:cNvPr>
          <p:cNvSpPr>
            <a:spLocks noGrp="1"/>
          </p:cNvSpPr>
          <p:nvPr/>
        </p:nvSpPr>
        <p:spPr>
          <a:xfrm>
            <a:off x="637877" y="3474988"/>
            <a:ext cx="425276" cy="425276"/>
          </a:xfrm>
          <a:prstGeom prst="ellipse">
            <a:avLst/>
          </a:prstGeom>
          <a:solidFill>
            <a:srgbClr val="101014"/>
          </a:solidFill>
        </p:spPr>
      </p:sp>
      <p:pic>
        <p:nvPicPr>
          <p:cNvPr id="56" name="Image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4856" y="3591892"/>
            <a:ext cx="191319" cy="191319"/>
          </a:xfrm>
          <a:prstGeom prst="rect">
            <a:avLst/>
          </a:prstGeom>
        </p:spPr>
      </p:pic>
      <p:sp>
        <p:nvSpPr>
          <p:cNvPr id="23" name="Text 17">
            <a:extLst>
              <a:ext uri="{FF2B5EF4-FFF2-40B4-BE49-F238E27FC236}">
                <a16:creationId xmlns:a16="http://schemas.microsoft.com/office/drawing/2014/main" id="{D1481BEF-51B8-441A-858F-AA8C9559FEDA}"/>
              </a:ext>
            </a:extLst>
          </p:cNvPr>
          <p:cNvSpPr>
            <a:spLocks noGrp="1"/>
          </p:cNvSpPr>
          <p:nvPr/>
        </p:nvSpPr>
        <p:spPr>
          <a:xfrm>
            <a:off x="637877" y="4042023"/>
            <a:ext cx="3721447" cy="221456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sz="1350" b="1">
                <a:solidFill>
                  <a:srgbClr val="39393C"/>
                </a:solidFill>
                <a:latin typeface="Playfair Display Bold"/>
                <a:ea typeface="Playfair Display Bold"/>
                <a:cs typeface="Playfair Display Bold"/>
              </a:rPr>
              <a:t>Editor &amp; Export</a:t>
            </a:r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56EA1D61-581E-443C-A552-C9106149F8C3}"/>
              </a:ext>
            </a:extLst>
          </p:cNvPr>
          <p:cNvSpPr>
            <a:spLocks noGrp="1"/>
          </p:cNvSpPr>
          <p:nvPr/>
        </p:nvSpPr>
        <p:spPr>
          <a:xfrm>
            <a:off x="637877" y="4348535"/>
            <a:ext cx="3721447" cy="226814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sz="1100">
                <a:solidFill>
                  <a:srgbClr val="39393C"/>
                </a:solidFill>
                <a:latin typeface="Open Sans"/>
                <a:ea typeface="Open Sans"/>
                <a:cs typeface="Open Sans"/>
              </a:rPr>
              <a:t>Inline editing, favorites, and stored PNG downloads</a:t>
            </a:r>
          </a:p>
        </p:txBody>
      </p:sp>
      <p:sp>
        <p:nvSpPr>
          <p:cNvPr id="25" name="Shape 19">
            <a:extLst>
              <a:ext uri="{FF2B5EF4-FFF2-40B4-BE49-F238E27FC236}">
                <a16:creationId xmlns:a16="http://schemas.microsoft.com/office/drawing/2014/main" id="{D1BFC54E-D3A7-4CBF-BC1D-5A71618E8679}"/>
              </a:ext>
            </a:extLst>
          </p:cNvPr>
          <p:cNvSpPr>
            <a:spLocks noGrp="1"/>
          </p:cNvSpPr>
          <p:nvPr/>
        </p:nvSpPr>
        <p:spPr>
          <a:xfrm>
            <a:off x="4642842" y="3333229"/>
            <a:ext cx="4004965" cy="1383878"/>
          </a:xfrm>
          <a:prstGeom prst="roundRect">
            <a:avLst>
              <a:gd name="adj" fmla="val 1537"/>
            </a:avLst>
          </a:prstGeom>
          <a:solidFill>
            <a:srgbClr val="E0E0EC"/>
          </a:solidFill>
        </p:spPr>
      </p:sp>
      <p:sp>
        <p:nvSpPr>
          <p:cNvPr id="26" name="Shape 20">
            <a:extLst>
              <a:ext uri="{FF2B5EF4-FFF2-40B4-BE49-F238E27FC236}">
                <a16:creationId xmlns:a16="http://schemas.microsoft.com/office/drawing/2014/main" id="{F437DB66-80A5-40C0-8CC2-E3018BF891EC}"/>
              </a:ext>
            </a:extLst>
          </p:cNvPr>
          <p:cNvSpPr>
            <a:spLocks noGrp="1"/>
          </p:cNvSpPr>
          <p:nvPr/>
        </p:nvSpPr>
        <p:spPr>
          <a:xfrm>
            <a:off x="4784601" y="3474988"/>
            <a:ext cx="425276" cy="425276"/>
          </a:xfrm>
          <a:prstGeom prst="ellipse">
            <a:avLst/>
          </a:prstGeom>
          <a:solidFill>
            <a:srgbClr val="101014"/>
          </a:solidFill>
        </p:spPr>
      </p:sp>
      <p:pic>
        <p:nvPicPr>
          <p:cNvPr id="61" name="Imag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01580" y="3591892"/>
            <a:ext cx="191319" cy="191319"/>
          </a:xfrm>
          <a:prstGeom prst="rect">
            <a:avLst/>
          </a:prstGeom>
        </p:spPr>
      </p:pic>
      <p:sp>
        <p:nvSpPr>
          <p:cNvPr id="28" name="Text 21">
            <a:extLst>
              <a:ext uri="{FF2B5EF4-FFF2-40B4-BE49-F238E27FC236}">
                <a16:creationId xmlns:a16="http://schemas.microsoft.com/office/drawing/2014/main" id="{B80AC2E2-97BC-4CE3-8B00-2B0F457A34FF}"/>
              </a:ext>
            </a:extLst>
          </p:cNvPr>
          <p:cNvSpPr>
            <a:spLocks noGrp="1"/>
          </p:cNvSpPr>
          <p:nvPr/>
        </p:nvSpPr>
        <p:spPr>
          <a:xfrm>
            <a:off x="4784601" y="4042023"/>
            <a:ext cx="3721447" cy="221456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sz="1350" b="1">
                <a:solidFill>
                  <a:srgbClr val="39393C"/>
                </a:solidFill>
                <a:latin typeface="Playfair Display Bold"/>
                <a:ea typeface="Playfair Display Bold"/>
                <a:cs typeface="Playfair Display Bold"/>
              </a:rPr>
              <a:t>Notifications</a:t>
            </a:r>
          </a:p>
        </p:txBody>
      </p:sp>
      <p:sp>
        <p:nvSpPr>
          <p:cNvPr id="29" name="Text 22">
            <a:extLst>
              <a:ext uri="{FF2B5EF4-FFF2-40B4-BE49-F238E27FC236}">
                <a16:creationId xmlns:a16="http://schemas.microsoft.com/office/drawing/2014/main" id="{58E6FF9E-A650-4C81-ABAD-58ABE8BC4B8B}"/>
              </a:ext>
            </a:extLst>
          </p:cNvPr>
          <p:cNvSpPr>
            <a:spLocks noGrp="1"/>
          </p:cNvSpPr>
          <p:nvPr/>
        </p:nvSpPr>
        <p:spPr>
          <a:xfrm>
            <a:off x="4784601" y="4348535"/>
            <a:ext cx="3721447" cy="226814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sz="1100">
                <a:solidFill>
                  <a:srgbClr val="39393C"/>
                </a:solidFill>
                <a:latin typeface="Open Sans"/>
                <a:ea typeface="Open Sans"/>
                <a:cs typeface="Open Sans"/>
              </a:rPr>
              <a:t>Status indicators from stores, posters, and exports</a:t>
            </a:r>
          </a:p>
        </p:txBody>
      </p:sp>
      <p:pic>
        <p:nvPicPr>
          <p:cNvPr id="64" name="Picture 3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5002" y="4844853"/>
            <a:ext cx="1518998" cy="251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6148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8367401-CA0A-4A40-89A7-6F38C3EF2A97}"/>
              </a:ext>
            </a:extLst>
          </p:cNvPr>
          <p:cNvSpPr>
            <a:spLocks noGrp="1"/>
          </p:cNvSpPr>
          <p:nvPr/>
        </p:nvSpPr>
        <p:spPr>
          <a:xfrm>
            <a:off x="463924" y="1235050"/>
            <a:ext cx="8151763" cy="1329035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sz="8350" b="1">
                <a:solidFill>
                  <a:srgbClr val="101014"/>
                </a:solidFill>
                <a:latin typeface="Playfair Display Bold"/>
                <a:ea typeface="Playfair Display Bold"/>
                <a:cs typeface="Playfair Display Bold"/>
              </a:rPr>
              <a:t>THANK YOU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36B10B1-89BB-4FB6-88C1-1E979B5C226F}"/>
              </a:ext>
            </a:extLst>
          </p:cNvPr>
          <p:cNvSpPr>
            <a:spLocks noGrp="1"/>
          </p:cNvSpPr>
          <p:nvPr/>
        </p:nvSpPr>
        <p:spPr>
          <a:xfrm>
            <a:off x="496119" y="2847603"/>
            <a:ext cx="8608963" cy="283443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sz="1350" b="1">
                <a:solidFill>
                  <a:srgbClr val="39393C"/>
                </a:solidFill>
                <a:latin typeface="Open Sans Bold"/>
                <a:ea typeface="Open Sans Bold"/>
                <a:cs typeface="Open Sans Bold"/>
              </a:rPr>
              <a:t>AI Poster Generator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6657418-47CF-403F-BB91-FEE651B14C76}"/>
              </a:ext>
            </a:extLst>
          </p:cNvPr>
          <p:cNvSpPr>
            <a:spLocks noGrp="1"/>
          </p:cNvSpPr>
          <p:nvPr/>
        </p:nvSpPr>
        <p:spPr>
          <a:xfrm>
            <a:off x="496119" y="3290515"/>
            <a:ext cx="8151763" cy="6178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r>
              <a:rPr sz="1100">
                <a:solidFill>
                  <a:srgbClr val="39393C"/>
                </a:solidFill>
                <a:latin typeface="Open Sans"/>
                <a:ea typeface="Open Sans"/>
                <a:cs typeface="Open Sans"/>
              </a:rPr>
              <a:t>Marketing Poster Generation Platform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sz="11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👨‍💻</a:t>
            </a:r>
            <a:r>
              <a:rPr sz="1100">
                <a:solidFill>
                  <a:srgbClr val="AFCBF8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sz="11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G. Dhaksinesh Sai</a:t>
            </a:r>
          </a:p>
        </p:txBody>
      </p:sp>
      <p:pic>
        <p:nvPicPr>
          <p:cNvPr id="9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5002" y="4844853"/>
            <a:ext cx="1518998" cy="251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7596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417</Words>
  <Application>Microsoft Office PowerPoint</Application>
  <DocSecurity>0</DocSecurity>
  <PresentationFormat>On-screen Show (16:9)</PresentationFormat>
  <Paragraphs>92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Playfair Display Bold</vt:lpstr>
      <vt:lpstr>Open Sans</vt:lpstr>
      <vt:lpstr>Open Sans Bold</vt:lpstr>
      <vt:lpstr>Twemoji Mozilla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Dhaksinesh sai. G</cp:lastModifiedBy>
  <cp:revision>6</cp:revision>
  <dcterms:created xsi:type="dcterms:W3CDTF">2026-07-31T04:12:34Z</dcterms:created>
  <dcterms:modified xsi:type="dcterms:W3CDTF">2026-08-09T16:26:27Z</dcterms:modified>
</cp:coreProperties>
</file>